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invertIfNegative val="0"/>
          <c:spPr>
            <a:solidFill>
              <a:srgbClr val="C0504D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JD 抽取</c:v>
                </c:pt>
                <c:pt idx="1">
                  <c:v>简历抽取</c:v>
                </c:pt>
                <c:pt idx="2">
                  <c:v>匹配推荐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90.38</c:v>
                </c:pt>
                <c:pt idx="1">
                  <c:v>93.38</c:v>
                </c:pt>
                <c:pt idx="2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目标线</c:v>
                </c:pt>
              </c:strCache>
            </c:strRef>
          </c:tx>
          <c:invertIfNegative val="0"/>
          <c:spPr>
            <a:solidFill>
              <a:srgbClr val="4F81BD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JD 抽取</c:v>
                </c:pt>
                <c:pt idx="1">
                  <c:v>简历抽取</c:v>
                </c:pt>
                <c:pt idx="2">
                  <c:v>匹配推荐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 w="12700" cap="flat">
      <a:noFill/>
      <a:miter lim="400000"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workspace/zhigang-compass/docs/ppt/images/bg-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4" name="Object3"/>
          <p:cNvSpPr/>
          <p:nvPr/>
        </p:nvSpPr>
        <p:spPr>
          <a:xfrm>
            <a:off x="3200400" y="74295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Object4"/>
          <p:cNvSpPr/>
          <p:nvPr/>
        </p:nvSpPr>
        <p:spPr>
          <a:xfrm>
            <a:off x="0" y="165735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智岗罗盘</a:t>
            </a:r>
            <a:endParaRPr lang="en-US" sz="4800" dirty="0"/>
          </a:p>
        </p:txBody>
      </p:sp>
      <p:sp>
        <p:nvSpPr>
          <p:cNvPr id="6" name="Object5"/>
          <p:cNvSpPr/>
          <p:nvPr/>
        </p:nvSpPr>
        <p:spPr>
          <a:xfrm>
            <a:off x="0" y="266319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200" spc="2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智能岗位技能图谱与就业演化分析系统</a:t>
            </a:r>
            <a:endParaRPr lang="en-US" sz="2200" dirty="0"/>
          </a:p>
        </p:txBody>
      </p:sp>
      <p:sp>
        <p:nvSpPr>
          <p:cNvPr id="7" name="Object6"/>
          <p:cNvSpPr/>
          <p:nvPr/>
        </p:nvSpPr>
        <p:spPr>
          <a:xfrm>
            <a:off x="3657600" y="3257550"/>
            <a:ext cx="1828800" cy="36576"/>
          </a:xfrm>
          <a:prstGeom prst="rect">
            <a:avLst/>
          </a:prstGeom>
          <a:solidFill>
            <a:srgbClr val="06B6D4">
              <a:alpha val="70000"/>
            </a:srgbClr>
          </a:solidFill>
          <a:ln/>
        </p:spPr>
      </p:sp>
      <p:sp>
        <p:nvSpPr>
          <p:cNvPr id="8" name="Object7"/>
          <p:cNvSpPr/>
          <p:nvPr/>
        </p:nvSpPr>
        <p:spPr>
          <a:xfrm>
            <a:off x="0" y="43205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94A3B8"/>
                </a:solidFill>
              </a:rPr>
              <a:t>终期答辩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Object3"/>
          <p:cNvSpPr/>
          <p:nvPr/>
        </p:nvSpPr>
        <p:spPr>
          <a:xfrm>
            <a:off x="45720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5" name="Object4"/>
          <p:cNvSpPr/>
          <p:nvPr/>
        </p:nvSpPr>
        <p:spPr>
          <a:xfrm>
            <a:off x="64008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Object5"/>
          <p:cNvSpPr/>
          <p:nvPr/>
        </p:nvSpPr>
        <p:spPr>
          <a:xfrm>
            <a:off x="64008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项目背景与痛点</a:t>
            </a:r>
            <a:endParaRPr lang="en-US" sz="1500" dirty="0"/>
          </a:p>
        </p:txBody>
      </p:sp>
      <p:sp>
        <p:nvSpPr>
          <p:cNvPr id="7" name="Object6"/>
          <p:cNvSpPr/>
          <p:nvPr/>
        </p:nvSpPr>
        <p:spPr>
          <a:xfrm>
            <a:off x="64008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就业市场的信息不对称挑战</a:t>
            </a:r>
            <a:endParaRPr lang="en-US" sz="1100" dirty="0"/>
          </a:p>
        </p:txBody>
      </p:sp>
      <p:sp>
        <p:nvSpPr>
          <p:cNvPr id="8" name="Object7"/>
          <p:cNvSpPr/>
          <p:nvPr/>
        </p:nvSpPr>
        <p:spPr>
          <a:xfrm>
            <a:off x="256032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9" name="Object8"/>
          <p:cNvSpPr/>
          <p:nvPr/>
        </p:nvSpPr>
        <p:spPr>
          <a:xfrm>
            <a:off x="274320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Object9"/>
          <p:cNvSpPr/>
          <p:nvPr/>
        </p:nvSpPr>
        <p:spPr>
          <a:xfrm>
            <a:off x="274320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解决方案概览</a:t>
            </a:r>
            <a:endParaRPr lang="en-US" sz="1500" dirty="0"/>
          </a:p>
        </p:txBody>
      </p:sp>
      <p:sp>
        <p:nvSpPr>
          <p:cNvPr id="11" name="Object10"/>
          <p:cNvSpPr/>
          <p:nvPr/>
        </p:nvSpPr>
        <p:spPr>
          <a:xfrm>
            <a:off x="274320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知识图谱驱动的智能分析平台</a:t>
            </a:r>
            <a:endParaRPr lang="en-US" sz="1100" dirty="0"/>
          </a:p>
        </p:txBody>
      </p:sp>
      <p:sp>
        <p:nvSpPr>
          <p:cNvPr id="12" name="Object11"/>
          <p:cNvSpPr/>
          <p:nvPr/>
        </p:nvSpPr>
        <p:spPr>
          <a:xfrm>
            <a:off x="466344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484632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Object13"/>
          <p:cNvSpPr/>
          <p:nvPr/>
        </p:nvSpPr>
        <p:spPr>
          <a:xfrm>
            <a:off x="484632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核心技术架构</a:t>
            </a:r>
            <a:endParaRPr lang="en-US" sz="1500" dirty="0"/>
          </a:p>
        </p:txBody>
      </p:sp>
      <p:sp>
        <p:nvSpPr>
          <p:cNvPr id="15" name="Object14"/>
          <p:cNvSpPr/>
          <p:nvPr/>
        </p:nvSpPr>
        <p:spPr>
          <a:xfrm>
            <a:off x="484632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多源采集 · LLM 抽取 · 图谱构建</a:t>
            </a:r>
            <a:endParaRPr lang="en-US" sz="1100" dirty="0"/>
          </a:p>
        </p:txBody>
      </p:sp>
      <p:sp>
        <p:nvSpPr>
          <p:cNvPr id="16" name="Object15"/>
          <p:cNvSpPr/>
          <p:nvPr/>
        </p:nvSpPr>
        <p:spPr>
          <a:xfrm>
            <a:off x="676656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7" name="Object16"/>
          <p:cNvSpPr/>
          <p:nvPr/>
        </p:nvSpPr>
        <p:spPr>
          <a:xfrm>
            <a:off x="694944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Object17"/>
          <p:cNvSpPr/>
          <p:nvPr/>
        </p:nvSpPr>
        <p:spPr>
          <a:xfrm>
            <a:off x="694944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智能匹配引擎</a:t>
            </a:r>
            <a:endParaRPr lang="en-US" sz="1500" dirty="0"/>
          </a:p>
        </p:txBody>
      </p:sp>
      <p:sp>
        <p:nvSpPr>
          <p:cNvPr id="19" name="Object18"/>
          <p:cNvSpPr/>
          <p:nvPr/>
        </p:nvSpPr>
        <p:spPr>
          <a:xfrm>
            <a:off x="694944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语义增强 + Bradley-Terry 调优</a:t>
            </a:r>
            <a:endParaRPr lang="en-US" sz="1100" dirty="0"/>
          </a:p>
        </p:txBody>
      </p:sp>
      <p:sp>
        <p:nvSpPr>
          <p:cNvPr id="20" name="Object19"/>
          <p:cNvSpPr/>
          <p:nvPr/>
        </p:nvSpPr>
        <p:spPr>
          <a:xfrm>
            <a:off x="457200" y="3200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21" name="Object20"/>
          <p:cNvSpPr/>
          <p:nvPr/>
        </p:nvSpPr>
        <p:spPr>
          <a:xfrm>
            <a:off x="64008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Object21"/>
          <p:cNvSpPr/>
          <p:nvPr/>
        </p:nvSpPr>
        <p:spPr>
          <a:xfrm>
            <a:off x="64008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准确率验证</a:t>
            </a:r>
            <a:endParaRPr lang="en-US" sz="1500" dirty="0"/>
          </a:p>
        </p:txBody>
      </p:sp>
      <p:sp>
        <p:nvSpPr>
          <p:cNvPr id="23" name="Object22"/>
          <p:cNvSpPr/>
          <p:nvPr/>
        </p:nvSpPr>
        <p:spPr>
          <a:xfrm>
            <a:off x="640080" y="4069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三项核心指标全面达标</a:t>
            </a:r>
            <a:endParaRPr lang="en-US" sz="1100" dirty="0"/>
          </a:p>
        </p:txBody>
      </p:sp>
      <p:sp>
        <p:nvSpPr>
          <p:cNvPr id="24" name="Object23"/>
          <p:cNvSpPr/>
          <p:nvPr/>
        </p:nvSpPr>
        <p:spPr>
          <a:xfrm>
            <a:off x="2560320" y="3200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25" name="Object24"/>
          <p:cNvSpPr/>
          <p:nvPr/>
        </p:nvSpPr>
        <p:spPr>
          <a:xfrm>
            <a:off x="274320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Object25"/>
          <p:cNvSpPr/>
          <p:nvPr/>
        </p:nvSpPr>
        <p:spPr>
          <a:xfrm>
            <a:off x="274320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产品与性能</a:t>
            </a:r>
            <a:endParaRPr lang="en-US" sz="1500" dirty="0"/>
          </a:p>
        </p:txBody>
      </p:sp>
      <p:sp>
        <p:nvSpPr>
          <p:cNvPr id="27" name="Object26"/>
          <p:cNvSpPr/>
          <p:nvPr/>
        </p:nvSpPr>
        <p:spPr>
          <a:xfrm>
            <a:off x="2743200" y="4069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全栈功能与性能优化成果</a:t>
            </a:r>
            <a:endParaRPr lang="en-US" sz="1100" dirty="0"/>
          </a:p>
        </p:txBody>
      </p:sp>
      <p:sp>
        <p:nvSpPr>
          <p:cNvPr id="28" name="Object27"/>
          <p:cNvSpPr/>
          <p:nvPr/>
        </p:nvSpPr>
        <p:spPr>
          <a:xfrm>
            <a:off x="4663440" y="32004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29" name="Object28"/>
          <p:cNvSpPr/>
          <p:nvPr/>
        </p:nvSpPr>
        <p:spPr>
          <a:xfrm>
            <a:off x="484632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Object29"/>
          <p:cNvSpPr/>
          <p:nvPr/>
        </p:nvSpPr>
        <p:spPr>
          <a:xfrm>
            <a:off x="484632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1" name="Object30"/>
          <p:cNvSpPr/>
          <p:nvPr/>
        </p:nvSpPr>
        <p:spPr>
          <a:xfrm>
            <a:off x="4846320" y="4069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项目成果与未来规划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项目背景与痛点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就业市场的信息不对称与技能错配挑战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41732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Object6"/>
          <p:cNvSpPr/>
          <p:nvPr/>
        </p:nvSpPr>
        <p:spPr>
          <a:xfrm>
            <a:off x="640080" y="1371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Object7"/>
          <p:cNvSpPr/>
          <p:nvPr/>
        </p:nvSpPr>
        <p:spPr>
          <a:xfrm>
            <a:off x="1143000" y="1371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信息不对称</a:t>
            </a:r>
            <a:endParaRPr lang="en-US" sz="1500" dirty="0"/>
          </a:p>
        </p:txBody>
      </p:sp>
      <p:sp>
        <p:nvSpPr>
          <p:cNvPr id="9" name="Object8"/>
          <p:cNvSpPr/>
          <p:nvPr/>
        </p:nvSpPr>
        <p:spPr>
          <a:xfrm>
            <a:off x="1143000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求职者难以全面了解岗位真实技能需求，企业招聘效率低下</a:t>
            </a:r>
            <a:endParaRPr lang="en-US" sz="1200" dirty="0"/>
          </a:p>
        </p:txBody>
      </p:sp>
      <p:sp>
        <p:nvSpPr>
          <p:cNvPr id="10" name="Object9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Object10"/>
          <p:cNvSpPr/>
          <p:nvPr/>
        </p:nvSpPr>
        <p:spPr>
          <a:xfrm>
            <a:off x="640080" y="2148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Object11"/>
          <p:cNvSpPr/>
          <p:nvPr/>
        </p:nvSpPr>
        <p:spPr>
          <a:xfrm>
            <a:off x="1143000" y="2148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技能错配</a:t>
            </a:r>
            <a:endParaRPr lang="en-US" sz="1500" dirty="0"/>
          </a:p>
        </p:txBody>
      </p:sp>
      <p:sp>
        <p:nvSpPr>
          <p:cNvPr id="13" name="Object12"/>
          <p:cNvSpPr/>
          <p:nvPr/>
        </p:nvSpPr>
        <p:spPr>
          <a:xfrm>
            <a:off x="1143000" y="2423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高校培养与市场需求脱节，毕业生技能与岗位要求存在差距</a:t>
            </a:r>
            <a:endParaRPr lang="en-US" sz="1200" dirty="0"/>
          </a:p>
        </p:txBody>
      </p:sp>
      <p:sp>
        <p:nvSpPr>
          <p:cNvPr id="14" name="Object13"/>
          <p:cNvSpPr/>
          <p:nvPr/>
        </p:nvSpPr>
        <p:spPr>
          <a:xfrm>
            <a:off x="457200" y="297180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Object14"/>
          <p:cNvSpPr/>
          <p:nvPr/>
        </p:nvSpPr>
        <p:spPr>
          <a:xfrm>
            <a:off x="640080" y="2926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Object15"/>
          <p:cNvSpPr/>
          <p:nvPr/>
        </p:nvSpPr>
        <p:spPr>
          <a:xfrm>
            <a:off x="1143000" y="2926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演化难追踪</a:t>
            </a:r>
            <a:endParaRPr lang="en-US" sz="1500" dirty="0"/>
          </a:p>
        </p:txBody>
      </p:sp>
      <p:sp>
        <p:nvSpPr>
          <p:cNvPr id="17" name="Object16"/>
          <p:cNvSpPr/>
          <p:nvPr/>
        </p:nvSpPr>
        <p:spPr>
          <a:xfrm>
            <a:off x="1143000" y="3200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技术迭代加速，技能需求快速变化，缺乏实时演化洞察工具</a:t>
            </a:r>
            <a:endParaRPr lang="en-US" sz="1200" dirty="0"/>
          </a:p>
        </p:txBody>
      </p:sp>
      <p:sp>
        <p:nvSpPr>
          <p:cNvPr id="18" name="Object17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Object18"/>
          <p:cNvSpPr/>
          <p:nvPr/>
        </p:nvSpPr>
        <p:spPr>
          <a:xfrm>
            <a:off x="640080" y="37033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000" dirty="0"/>
          </a:p>
        </p:txBody>
      </p:sp>
      <p:sp>
        <p:nvSpPr>
          <p:cNvPr id="20" name="Object19"/>
          <p:cNvSpPr/>
          <p:nvPr/>
        </p:nvSpPr>
        <p:spPr>
          <a:xfrm>
            <a:off x="1143000" y="3703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决策缺依据</a:t>
            </a:r>
            <a:endParaRPr lang="en-US" sz="1500" dirty="0"/>
          </a:p>
        </p:txBody>
      </p:sp>
      <p:sp>
        <p:nvSpPr>
          <p:cNvPr id="21" name="Object20"/>
          <p:cNvSpPr/>
          <p:nvPr/>
        </p:nvSpPr>
        <p:spPr>
          <a:xfrm>
            <a:off x="1143000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职业规划、课程设置、人才培养缺乏数据驱动的决策支持</a:t>
            </a:r>
            <a:endParaRPr lang="en-US" sz="1200" dirty="0"/>
          </a:p>
        </p:txBody>
      </p:sp>
      <p:sp>
        <p:nvSpPr>
          <p:cNvPr id="22" name="Object21"/>
          <p:cNvSpPr/>
          <p:nvPr/>
        </p:nvSpPr>
        <p:spPr>
          <a:xfrm>
            <a:off x="5212080" y="12801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pic>
        <p:nvPicPr>
          <p:cNvPr id="23" name="Object 22" descr="/workspace/zhigang-compass/docs/ppt/images/hero-data-visualiz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417320"/>
            <a:ext cx="3200400" cy="2926080"/>
          </a:xfrm>
          <a:prstGeom prst="rect">
            <a:avLst/>
          </a:prstGeom>
        </p:spPr>
      </p:pic>
      <p:sp>
        <p:nvSpPr>
          <p:cNvPr id="24" name="Object23"/>
          <p:cNvSpPr/>
          <p:nvPr/>
        </p:nvSpPr>
        <p:spPr>
          <a:xfrm>
            <a:off x="521208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i="1" dirty="0">
                <a:solidFill>
                  <a:srgbClr val="94A3B8"/>
                </a:solidFill>
              </a:rPr>
              <a:t>数据驱动的就业市场洞察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解决方案概览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LLM + 智能匹配的三位一体架构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71600"/>
            <a:ext cx="2621280" cy="347472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pic>
        <p:nvPicPr>
          <p:cNvPr id="7" name="Object 6" descr="/workspace/zhigang-compass/docs/ppt/images/card-data-collec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438400" cy="1576426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685800" y="3130906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多源数据采集</a:t>
            </a:r>
            <a:endParaRPr lang="en-US" sz="1700" dirty="0"/>
          </a:p>
        </p:txBody>
      </p:sp>
      <p:sp>
        <p:nvSpPr>
          <p:cNvPr id="9" name="Object8"/>
          <p:cNvSpPr/>
          <p:nvPr/>
        </p:nvSpPr>
        <p:spPr>
          <a:xfrm>
            <a:off x="685800" y="3496666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Object9"/>
          <p:cNvSpPr/>
          <p:nvPr/>
        </p:nvSpPr>
        <p:spPr>
          <a:xfrm>
            <a:off x="685800" y="3633826"/>
            <a:ext cx="2164080" cy="1029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覆盖主流招聘平台与在线课程平台，实时采集岗位与课程数据，构建全面的技能生态数据源</a:t>
            </a:r>
            <a:endParaRPr lang="en-US" sz="1200" dirty="0"/>
          </a:p>
        </p:txBody>
      </p:sp>
      <p:sp>
        <p:nvSpPr>
          <p:cNvPr id="11" name="Object10"/>
          <p:cNvSpPr/>
          <p:nvPr/>
        </p:nvSpPr>
        <p:spPr>
          <a:xfrm>
            <a:off x="3261360" y="1371600"/>
            <a:ext cx="2621280" cy="347472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pic>
        <p:nvPicPr>
          <p:cNvPr id="12" name="Object 11" descr="/workspace/zhigang-compass/docs/ppt/images/card-skill-extrac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2800" y="1463040"/>
            <a:ext cx="2438400" cy="1576426"/>
          </a:xfrm>
          <a:prstGeom prst="rect">
            <a:avLst/>
          </a:prstGeom>
        </p:spPr>
      </p:pic>
      <p:sp>
        <p:nvSpPr>
          <p:cNvPr id="13" name="Object12"/>
          <p:cNvSpPr/>
          <p:nvPr/>
        </p:nvSpPr>
        <p:spPr>
          <a:xfrm>
            <a:off x="3489960" y="3130906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智能抽取</a:t>
            </a:r>
            <a:endParaRPr lang="en-US" sz="1700" dirty="0"/>
          </a:p>
        </p:txBody>
      </p:sp>
      <p:sp>
        <p:nvSpPr>
          <p:cNvPr id="14" name="Object13"/>
          <p:cNvSpPr/>
          <p:nvPr/>
        </p:nvSpPr>
        <p:spPr>
          <a:xfrm>
            <a:off x="3489960" y="3496666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Object14"/>
          <p:cNvSpPr/>
          <p:nvPr/>
        </p:nvSpPr>
        <p:spPr>
          <a:xfrm>
            <a:off x="3489960" y="3633826"/>
            <a:ext cx="2164080" cy="1029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基于大语言模型的技能抽取与归一化引擎，精准识别岗位与简历中的技能实体与层级关系</a:t>
            </a:r>
            <a:endParaRPr lang="en-US" sz="1200" dirty="0"/>
          </a:p>
        </p:txBody>
      </p:sp>
      <p:sp>
        <p:nvSpPr>
          <p:cNvPr id="16" name="Object15"/>
          <p:cNvSpPr/>
          <p:nvPr/>
        </p:nvSpPr>
        <p:spPr>
          <a:xfrm>
            <a:off x="6065520" y="1371600"/>
            <a:ext cx="2621280" cy="347472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pic>
        <p:nvPicPr>
          <p:cNvPr id="17" name="Object 16" descr="/workspace/zhigang-compass/docs/ppt/images/card-resume-mat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56960" y="1463040"/>
            <a:ext cx="2438400" cy="1576426"/>
          </a:xfrm>
          <a:prstGeom prst="rect">
            <a:avLst/>
          </a:prstGeom>
        </p:spPr>
      </p:pic>
      <p:sp>
        <p:nvSpPr>
          <p:cNvPr id="18" name="Object17"/>
          <p:cNvSpPr/>
          <p:nvPr/>
        </p:nvSpPr>
        <p:spPr>
          <a:xfrm>
            <a:off x="6294120" y="3130906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智能匹配推荐</a:t>
            </a:r>
            <a:endParaRPr lang="en-US" sz="1700" dirty="0"/>
          </a:p>
        </p:txBody>
      </p:sp>
      <p:sp>
        <p:nvSpPr>
          <p:cNvPr id="19" name="Object18"/>
          <p:cNvSpPr/>
          <p:nvPr/>
        </p:nvSpPr>
        <p:spPr>
          <a:xfrm>
            <a:off x="6294120" y="3496666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Object19"/>
          <p:cNvSpPr/>
          <p:nvPr/>
        </p:nvSpPr>
        <p:spPr>
          <a:xfrm>
            <a:off x="6294120" y="3633826"/>
            <a:ext cx="2164080" cy="1029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语义增强匹配引擎结合 Bradley-Terry 权重调优，实现高精度的人岗匹配与学习路径推荐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系统整体架构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六层架构设计，端到端智能化处理链路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914400" y="132588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1188720" y="1325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展示层</a:t>
            </a:r>
            <a:endParaRPr lang="en-US" sz="1300" dirty="0"/>
          </a:p>
        </p:txBody>
      </p:sp>
      <p:sp>
        <p:nvSpPr>
          <p:cNvPr id="8" name="Object7"/>
          <p:cNvSpPr/>
          <p:nvPr/>
        </p:nvSpPr>
        <p:spPr>
          <a:xfrm>
            <a:off x="2560320" y="1325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ECharts · Force Graph · 响应式 UI</a:t>
            </a:r>
            <a:endParaRPr lang="en-US" sz="1100" dirty="0"/>
          </a:p>
        </p:txBody>
      </p:sp>
      <p:sp>
        <p:nvSpPr>
          <p:cNvPr id="9" name="Object8"/>
          <p:cNvSpPr/>
          <p:nvPr/>
        </p:nvSpPr>
        <p:spPr>
          <a:xfrm>
            <a:off x="914400" y="182880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0" name="Object9"/>
          <p:cNvSpPr/>
          <p:nvPr/>
        </p:nvSpPr>
        <p:spPr>
          <a:xfrm>
            <a:off x="118872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网关层</a:t>
            </a:r>
            <a:endParaRPr lang="en-US" sz="1300" dirty="0"/>
          </a:p>
        </p:txBody>
      </p:sp>
      <p:sp>
        <p:nvSpPr>
          <p:cNvPr id="11" name="Object10"/>
          <p:cNvSpPr/>
          <p:nvPr/>
        </p:nvSpPr>
        <p:spPr>
          <a:xfrm>
            <a:off x="2560320" y="18288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 认证 · 限流 · CORS · API 路由</a:t>
            </a:r>
            <a:endParaRPr lang="en-US" sz="1100" dirty="0"/>
          </a:p>
        </p:txBody>
      </p:sp>
      <p:sp>
        <p:nvSpPr>
          <p:cNvPr id="12" name="Object11"/>
          <p:cNvSpPr/>
          <p:nvPr/>
        </p:nvSpPr>
        <p:spPr>
          <a:xfrm>
            <a:off x="914400" y="233172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1188720" y="2331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服务层</a:t>
            </a:r>
            <a:endParaRPr lang="en-US" sz="1300" dirty="0"/>
          </a:p>
        </p:txBody>
      </p:sp>
      <p:sp>
        <p:nvSpPr>
          <p:cNvPr id="14" name="Object13"/>
          <p:cNvSpPr/>
          <p:nvPr/>
        </p:nvSpPr>
        <p:spPr>
          <a:xfrm>
            <a:off x="2560320" y="2331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图谱服务 · 匹配引擎 · 演化分析 · 简历管理</a:t>
            </a:r>
            <a:endParaRPr lang="en-US" sz="1100" dirty="0"/>
          </a:p>
        </p:txBody>
      </p:sp>
      <p:sp>
        <p:nvSpPr>
          <p:cNvPr id="15" name="Object14"/>
          <p:cNvSpPr/>
          <p:nvPr/>
        </p:nvSpPr>
        <p:spPr>
          <a:xfrm>
            <a:off x="914400" y="283464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6" name="Object15"/>
          <p:cNvSpPr/>
          <p:nvPr/>
        </p:nvSpPr>
        <p:spPr>
          <a:xfrm>
            <a:off x="118872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算法层</a:t>
            </a:r>
            <a:endParaRPr lang="en-US" sz="1300" dirty="0"/>
          </a:p>
        </p:txBody>
      </p:sp>
      <p:sp>
        <p:nvSpPr>
          <p:cNvPr id="17" name="Object16"/>
          <p:cNvSpPr/>
          <p:nvPr/>
        </p:nvSpPr>
        <p:spPr>
          <a:xfrm>
            <a:off x="2560320" y="2834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抽取 · 技能归一化 · 语义匹配 · BT 调优</a:t>
            </a:r>
            <a:endParaRPr lang="en-US" sz="1100" dirty="0"/>
          </a:p>
        </p:txBody>
      </p:sp>
      <p:sp>
        <p:nvSpPr>
          <p:cNvPr id="18" name="Object17"/>
          <p:cNvSpPr/>
          <p:nvPr/>
        </p:nvSpPr>
        <p:spPr>
          <a:xfrm>
            <a:off x="914400" y="333756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9" name="Object18"/>
          <p:cNvSpPr/>
          <p:nvPr/>
        </p:nvSpPr>
        <p:spPr>
          <a:xfrm>
            <a:off x="1188720" y="3337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0" name="Object19"/>
          <p:cNvSpPr/>
          <p:nvPr/>
        </p:nvSpPr>
        <p:spPr>
          <a:xfrm>
            <a:off x="2560320" y="3337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图谱 · PostgreSQL · Redis 缓存 · RAG 向量</a:t>
            </a:r>
            <a:endParaRPr lang="en-US" sz="1100" dirty="0"/>
          </a:p>
        </p:txBody>
      </p:sp>
      <p:sp>
        <p:nvSpPr>
          <p:cNvPr id="21" name="Object20"/>
          <p:cNvSpPr/>
          <p:nvPr/>
        </p:nvSpPr>
        <p:spPr>
          <a:xfrm>
            <a:off x="914400" y="384048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2" name="Object21"/>
          <p:cNvSpPr/>
          <p:nvPr/>
        </p:nvSpPr>
        <p:spPr>
          <a:xfrm>
            <a:off x="1188720" y="3840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采集层</a:t>
            </a:r>
            <a:endParaRPr lang="en-US" sz="1300" dirty="0"/>
          </a:p>
        </p:txBody>
      </p:sp>
      <p:sp>
        <p:nvSpPr>
          <p:cNvPr id="23" name="Object22"/>
          <p:cNvSpPr/>
          <p:nvPr/>
        </p:nvSpPr>
        <p:spPr>
          <a:xfrm>
            <a:off x="2560320" y="3840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 爬虫 · 多平台适配 · 代理池 · 调度系统</a:t>
            </a:r>
            <a:endParaRPr lang="en-US" sz="1100" dirty="0"/>
          </a:p>
        </p:txBody>
      </p:sp>
      <p:sp>
        <p:nvSpPr>
          <p:cNvPr id="24" name="Object23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>
              <a:alpha val="80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5" name="Object24"/>
          <p:cNvSpPr/>
          <p:nvPr/>
        </p:nvSpPr>
        <p:spPr>
          <a:xfrm>
            <a:off x="7315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架构亮点：</a:t>
            </a:r>
            <a:endParaRPr lang="en-US" sz="1200" dirty="0"/>
          </a:p>
        </p:txBody>
      </p:sp>
      <p:sp>
        <p:nvSpPr>
          <p:cNvPr id="26" name="Object25"/>
          <p:cNvSpPr/>
          <p:nvPr/>
        </p:nvSpPr>
        <p:spPr>
          <a:xfrm>
            <a:off x="2103120" y="44805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采集-存储-计算-服务全链路解耦，算法层独立迭代，支撑图谱 5000+ 节点、10 万+ 关系的实时查询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多源数据采集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覆盖招聘与课程两大维度，构建完整技能生态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2801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</p:sp>
      <p:sp>
        <p:nvSpPr>
          <p:cNvPr id="7" name="Object6"/>
          <p:cNvSpPr/>
          <p:nvPr/>
        </p:nvSpPr>
        <p:spPr>
          <a:xfrm>
            <a:off x="4572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招聘平台</a:t>
            </a:r>
            <a:endParaRPr lang="en-US" sz="1100" dirty="0"/>
          </a:p>
        </p:txBody>
      </p:sp>
      <p:sp>
        <p:nvSpPr>
          <p:cNvPr id="8" name="Object7"/>
          <p:cNvSpPr/>
          <p:nvPr/>
        </p:nvSpPr>
        <p:spPr>
          <a:xfrm>
            <a:off x="1691640" y="1298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9" name="Object8"/>
          <p:cNvSpPr/>
          <p:nvPr/>
        </p:nvSpPr>
        <p:spPr>
          <a:xfrm>
            <a:off x="1691640" y="1298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BOSS 直聘</a:t>
            </a:r>
            <a:endParaRPr lang="en-US" sz="900" dirty="0"/>
          </a:p>
        </p:txBody>
      </p:sp>
      <p:sp>
        <p:nvSpPr>
          <p:cNvPr id="10" name="Object9"/>
          <p:cNvSpPr/>
          <p:nvPr/>
        </p:nvSpPr>
        <p:spPr>
          <a:xfrm>
            <a:off x="2496312" y="1298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1" name="Object10"/>
          <p:cNvSpPr/>
          <p:nvPr/>
        </p:nvSpPr>
        <p:spPr>
          <a:xfrm>
            <a:off x="2496312" y="1298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前程无忧</a:t>
            </a:r>
            <a:endParaRPr lang="en-US" sz="900" dirty="0"/>
          </a:p>
        </p:txBody>
      </p:sp>
      <p:sp>
        <p:nvSpPr>
          <p:cNvPr id="12" name="Object11"/>
          <p:cNvSpPr/>
          <p:nvPr/>
        </p:nvSpPr>
        <p:spPr>
          <a:xfrm>
            <a:off x="3300984" y="1298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3300984" y="1298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智联招聘</a:t>
            </a:r>
            <a:endParaRPr lang="en-US" sz="900" dirty="0"/>
          </a:p>
        </p:txBody>
      </p:sp>
      <p:sp>
        <p:nvSpPr>
          <p:cNvPr id="14" name="Object13"/>
          <p:cNvSpPr/>
          <p:nvPr/>
        </p:nvSpPr>
        <p:spPr>
          <a:xfrm>
            <a:off x="4105656" y="1298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5" name="Object14"/>
          <p:cNvSpPr/>
          <p:nvPr/>
        </p:nvSpPr>
        <p:spPr>
          <a:xfrm>
            <a:off x="4105656" y="1298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拉勾网</a:t>
            </a:r>
            <a:endParaRPr lang="en-US" sz="900" dirty="0"/>
          </a:p>
        </p:txBody>
      </p:sp>
      <p:sp>
        <p:nvSpPr>
          <p:cNvPr id="16" name="Object15"/>
          <p:cNvSpPr/>
          <p:nvPr/>
        </p:nvSpPr>
        <p:spPr>
          <a:xfrm>
            <a:off x="457200" y="17830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7" name="Object16"/>
          <p:cNvSpPr/>
          <p:nvPr/>
        </p:nvSpPr>
        <p:spPr>
          <a:xfrm>
            <a:off x="457200" y="1783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课程平台</a:t>
            </a:r>
            <a:endParaRPr lang="en-US" sz="1100" dirty="0"/>
          </a:p>
        </p:txBody>
      </p:sp>
      <p:sp>
        <p:nvSpPr>
          <p:cNvPr id="18" name="Object17"/>
          <p:cNvSpPr/>
          <p:nvPr/>
        </p:nvSpPr>
        <p:spPr>
          <a:xfrm>
            <a:off x="1691640" y="180136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9" name="Object18"/>
          <p:cNvSpPr/>
          <p:nvPr/>
        </p:nvSpPr>
        <p:spPr>
          <a:xfrm>
            <a:off x="1691640" y="180136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中国大学 MOOC</a:t>
            </a:r>
            <a:endParaRPr lang="en-US" sz="900" dirty="0"/>
          </a:p>
        </p:txBody>
      </p:sp>
      <p:sp>
        <p:nvSpPr>
          <p:cNvPr id="20" name="Object19"/>
          <p:cNvSpPr/>
          <p:nvPr/>
        </p:nvSpPr>
        <p:spPr>
          <a:xfrm>
            <a:off x="2496312" y="180136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1" name="Object20"/>
          <p:cNvSpPr/>
          <p:nvPr/>
        </p:nvSpPr>
        <p:spPr>
          <a:xfrm>
            <a:off x="2496312" y="180136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Coursera</a:t>
            </a:r>
            <a:endParaRPr lang="en-US" sz="900" dirty="0"/>
          </a:p>
        </p:txBody>
      </p:sp>
      <p:sp>
        <p:nvSpPr>
          <p:cNvPr id="22" name="Object21"/>
          <p:cNvSpPr/>
          <p:nvPr/>
        </p:nvSpPr>
        <p:spPr>
          <a:xfrm>
            <a:off x="3300984" y="180136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Object22"/>
          <p:cNvSpPr/>
          <p:nvPr/>
        </p:nvSpPr>
        <p:spPr>
          <a:xfrm>
            <a:off x="3300984" y="180136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网易云课堂</a:t>
            </a:r>
            <a:endParaRPr lang="en-US" sz="900" dirty="0"/>
          </a:p>
        </p:txBody>
      </p:sp>
      <p:sp>
        <p:nvSpPr>
          <p:cNvPr id="24" name="Object23"/>
          <p:cNvSpPr/>
          <p:nvPr/>
        </p:nvSpPr>
        <p:spPr>
          <a:xfrm>
            <a:off x="457200" y="2468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采集流水线</a:t>
            </a:r>
            <a:endParaRPr lang="en-US" sz="1200" dirty="0"/>
          </a:p>
        </p:txBody>
      </p:sp>
      <p:sp>
        <p:nvSpPr>
          <p:cNvPr id="25" name="Object24"/>
          <p:cNvSpPr/>
          <p:nvPr/>
        </p:nvSpPr>
        <p:spPr>
          <a:xfrm>
            <a:off x="457200" y="2788920"/>
            <a:ext cx="749808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6" name="Object25"/>
          <p:cNvSpPr/>
          <p:nvPr/>
        </p:nvSpPr>
        <p:spPr>
          <a:xfrm>
            <a:off x="457200" y="283464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27" name="Object26"/>
          <p:cNvSpPr/>
          <p:nvPr/>
        </p:nvSpPr>
        <p:spPr>
          <a:xfrm>
            <a:off x="457200" y="3136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调度触发</a:t>
            </a:r>
            <a:endParaRPr lang="en-US" sz="900" dirty="0"/>
          </a:p>
        </p:txBody>
      </p:sp>
      <p:sp>
        <p:nvSpPr>
          <p:cNvPr id="28" name="Object27"/>
          <p:cNvSpPr/>
          <p:nvPr/>
        </p:nvSpPr>
        <p:spPr>
          <a:xfrm>
            <a:off x="1216152" y="3118104"/>
            <a:ext cx="914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9" name="Object28"/>
          <p:cNvSpPr/>
          <p:nvPr/>
        </p:nvSpPr>
        <p:spPr>
          <a:xfrm>
            <a:off x="1298448" y="2788920"/>
            <a:ext cx="749808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0" name="Object29"/>
          <p:cNvSpPr/>
          <p:nvPr/>
        </p:nvSpPr>
        <p:spPr>
          <a:xfrm>
            <a:off x="1298448" y="283464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31" name="Object30"/>
          <p:cNvSpPr/>
          <p:nvPr/>
        </p:nvSpPr>
        <p:spPr>
          <a:xfrm>
            <a:off x="1298448" y="3136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代理池</a:t>
            </a:r>
            <a:endParaRPr lang="en-US" sz="900" dirty="0"/>
          </a:p>
        </p:txBody>
      </p:sp>
      <p:sp>
        <p:nvSpPr>
          <p:cNvPr id="32" name="Object31"/>
          <p:cNvSpPr/>
          <p:nvPr/>
        </p:nvSpPr>
        <p:spPr>
          <a:xfrm>
            <a:off x="2057400" y="3118104"/>
            <a:ext cx="914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3" name="Object32"/>
          <p:cNvSpPr/>
          <p:nvPr/>
        </p:nvSpPr>
        <p:spPr>
          <a:xfrm>
            <a:off x="2139696" y="2788920"/>
            <a:ext cx="749808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4" name="Object33"/>
          <p:cNvSpPr/>
          <p:nvPr/>
        </p:nvSpPr>
        <p:spPr>
          <a:xfrm>
            <a:off x="2139696" y="283464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🕷️</a:t>
            </a:r>
            <a:endParaRPr lang="en-US" sz="1500" dirty="0"/>
          </a:p>
        </p:txBody>
      </p:sp>
      <p:sp>
        <p:nvSpPr>
          <p:cNvPr id="35" name="Object34"/>
          <p:cNvSpPr/>
          <p:nvPr/>
        </p:nvSpPr>
        <p:spPr>
          <a:xfrm>
            <a:off x="2139696" y="3136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数据抓取</a:t>
            </a:r>
            <a:endParaRPr lang="en-US" sz="900" dirty="0"/>
          </a:p>
        </p:txBody>
      </p:sp>
      <p:sp>
        <p:nvSpPr>
          <p:cNvPr id="36" name="Object35"/>
          <p:cNvSpPr/>
          <p:nvPr/>
        </p:nvSpPr>
        <p:spPr>
          <a:xfrm>
            <a:off x="2898648" y="3118104"/>
            <a:ext cx="914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7" name="Object36"/>
          <p:cNvSpPr/>
          <p:nvPr/>
        </p:nvSpPr>
        <p:spPr>
          <a:xfrm>
            <a:off x="2980944" y="2788920"/>
            <a:ext cx="749808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8" name="Object37"/>
          <p:cNvSpPr/>
          <p:nvPr/>
        </p:nvSpPr>
        <p:spPr>
          <a:xfrm>
            <a:off x="2980944" y="283464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🧹</a:t>
            </a:r>
            <a:endParaRPr lang="en-US" sz="1500" dirty="0"/>
          </a:p>
        </p:txBody>
      </p:sp>
      <p:sp>
        <p:nvSpPr>
          <p:cNvPr id="39" name="Object38"/>
          <p:cNvSpPr/>
          <p:nvPr/>
        </p:nvSpPr>
        <p:spPr>
          <a:xfrm>
            <a:off x="2980944" y="3136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清洗去重</a:t>
            </a:r>
            <a:endParaRPr lang="en-US" sz="900" dirty="0"/>
          </a:p>
        </p:txBody>
      </p:sp>
      <p:sp>
        <p:nvSpPr>
          <p:cNvPr id="40" name="Object39"/>
          <p:cNvSpPr/>
          <p:nvPr/>
        </p:nvSpPr>
        <p:spPr>
          <a:xfrm>
            <a:off x="3739896" y="3118104"/>
            <a:ext cx="914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1" name="Object40"/>
          <p:cNvSpPr/>
          <p:nvPr/>
        </p:nvSpPr>
        <p:spPr>
          <a:xfrm>
            <a:off x="3822192" y="2788920"/>
            <a:ext cx="749808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2" name="Object41"/>
          <p:cNvSpPr/>
          <p:nvPr/>
        </p:nvSpPr>
        <p:spPr>
          <a:xfrm>
            <a:off x="3822192" y="283464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📦</a:t>
            </a:r>
            <a:endParaRPr lang="en-US" sz="1500" dirty="0"/>
          </a:p>
        </p:txBody>
      </p:sp>
      <p:sp>
        <p:nvSpPr>
          <p:cNvPr id="43" name="Object42"/>
          <p:cNvSpPr/>
          <p:nvPr/>
        </p:nvSpPr>
        <p:spPr>
          <a:xfrm>
            <a:off x="3822192" y="3136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E2E8F0"/>
                </a:solidFill>
              </a:rPr>
              <a:t>入图入库</a:t>
            </a:r>
            <a:endParaRPr lang="en-US" sz="900" dirty="0"/>
          </a:p>
        </p:txBody>
      </p:sp>
      <p:sp>
        <p:nvSpPr>
          <p:cNvPr id="44" name="Object43"/>
          <p:cNvSpPr/>
          <p:nvPr/>
        </p:nvSpPr>
        <p:spPr>
          <a:xfrm>
            <a:off x="5760720" y="128016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5" name="Object44"/>
          <p:cNvSpPr/>
          <p:nvPr/>
        </p:nvSpPr>
        <p:spPr>
          <a:xfrm>
            <a:off x="5760720" y="1463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</a:t>
            </a:r>
            <a:endParaRPr lang="en-US" sz="1500" dirty="0"/>
          </a:p>
        </p:txBody>
      </p:sp>
      <p:sp>
        <p:nvSpPr>
          <p:cNvPr id="46" name="Object45"/>
          <p:cNvSpPr/>
          <p:nvPr/>
        </p:nvSpPr>
        <p:spPr>
          <a:xfrm>
            <a:off x="589788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2400" dirty="0"/>
          </a:p>
        </p:txBody>
      </p:sp>
      <p:sp>
        <p:nvSpPr>
          <p:cNvPr id="47" name="Object46"/>
          <p:cNvSpPr/>
          <p:nvPr/>
        </p:nvSpPr>
        <p:spPr>
          <a:xfrm>
            <a:off x="5897880" y="24231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</a:rPr>
              <a:t>岗位节点</a:t>
            </a:r>
            <a:endParaRPr lang="en-US" sz="1000" dirty="0"/>
          </a:p>
        </p:txBody>
      </p:sp>
      <p:sp>
        <p:nvSpPr>
          <p:cNvPr id="48" name="Object47"/>
          <p:cNvSpPr/>
          <p:nvPr/>
        </p:nvSpPr>
        <p:spPr>
          <a:xfrm>
            <a:off x="7315200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400" dirty="0"/>
          </a:p>
        </p:txBody>
      </p:sp>
      <p:sp>
        <p:nvSpPr>
          <p:cNvPr id="49" name="Object48"/>
          <p:cNvSpPr/>
          <p:nvPr/>
        </p:nvSpPr>
        <p:spPr>
          <a:xfrm>
            <a:off x="7315200" y="24231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</a:rPr>
              <a:t>技能实体</a:t>
            </a:r>
            <a:endParaRPr lang="en-US" sz="1000" dirty="0"/>
          </a:p>
        </p:txBody>
      </p:sp>
      <p:sp>
        <p:nvSpPr>
          <p:cNvPr id="50" name="Object49"/>
          <p:cNvSpPr/>
          <p:nvPr/>
        </p:nvSpPr>
        <p:spPr>
          <a:xfrm>
            <a:off x="5897880" y="3108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10万+</a:t>
            </a:r>
            <a:endParaRPr lang="en-US" sz="2400" dirty="0"/>
          </a:p>
        </p:txBody>
      </p:sp>
      <p:sp>
        <p:nvSpPr>
          <p:cNvPr id="51" name="Object50"/>
          <p:cNvSpPr/>
          <p:nvPr/>
        </p:nvSpPr>
        <p:spPr>
          <a:xfrm>
            <a:off x="5897880" y="35661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</a:rPr>
              <a:t>图谱关系</a:t>
            </a:r>
            <a:endParaRPr lang="en-US" sz="1000" dirty="0"/>
          </a:p>
        </p:txBody>
      </p:sp>
      <p:sp>
        <p:nvSpPr>
          <p:cNvPr id="52" name="Object51"/>
          <p:cNvSpPr/>
          <p:nvPr/>
        </p:nvSpPr>
        <p:spPr>
          <a:xfrm>
            <a:off x="7315200" y="3108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3,000+</a:t>
            </a:r>
            <a:endParaRPr lang="en-US" sz="2400" dirty="0"/>
          </a:p>
        </p:txBody>
      </p:sp>
      <p:sp>
        <p:nvSpPr>
          <p:cNvPr id="53" name="Object52"/>
          <p:cNvSpPr/>
          <p:nvPr/>
        </p:nvSpPr>
        <p:spPr>
          <a:xfrm>
            <a:off x="7315200" y="35661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</a:rPr>
              <a:t>课程数据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知识图谱构建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多层级技能本体，语义关联的知识网络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5212080" y="12801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pic>
        <p:nvPicPr>
          <p:cNvPr id="7" name="Object 6" descr="/workspace/zhigang-compass/docs/ppt/images/hero-knowledge-grap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417320"/>
            <a:ext cx="3200400" cy="292608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5720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 Schema</a:t>
            </a:r>
            <a:endParaRPr lang="en-US" sz="1500" dirty="0"/>
          </a:p>
        </p:txBody>
      </p:sp>
      <p:sp>
        <p:nvSpPr>
          <p:cNvPr id="9" name="Object8"/>
          <p:cNvSpPr/>
          <p:nvPr/>
        </p:nvSpPr>
        <p:spPr>
          <a:xfrm>
            <a:off x="457200" y="1810512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Object9"/>
          <p:cNvSpPr/>
          <p:nvPr/>
        </p:nvSpPr>
        <p:spPr>
          <a:xfrm>
            <a:off x="749808" y="1737360"/>
            <a:ext cx="40965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 (Position)</a:t>
            </a:r>
            <a:endParaRPr lang="en-US" sz="1200" dirty="0"/>
          </a:p>
        </p:txBody>
      </p:sp>
      <p:sp>
        <p:nvSpPr>
          <p:cNvPr id="11" name="Object10"/>
          <p:cNvSpPr/>
          <p:nvPr/>
        </p:nvSpPr>
        <p:spPr>
          <a:xfrm>
            <a:off x="749808" y="197510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 节点，含薪资、城市、经验要求等属性</a:t>
            </a:r>
            <a:endParaRPr lang="en-US" sz="1000" dirty="0"/>
          </a:p>
        </p:txBody>
      </p:sp>
      <p:sp>
        <p:nvSpPr>
          <p:cNvPr id="12" name="Object11"/>
          <p:cNvSpPr/>
          <p:nvPr/>
        </p:nvSpPr>
        <p:spPr>
          <a:xfrm>
            <a:off x="457200" y="235915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Object12"/>
          <p:cNvSpPr/>
          <p:nvPr/>
        </p:nvSpPr>
        <p:spPr>
          <a:xfrm>
            <a:off x="749808" y="2286000"/>
            <a:ext cx="40965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 (Skill)</a:t>
            </a:r>
            <a:endParaRPr lang="en-US" sz="1200" dirty="0"/>
          </a:p>
        </p:txBody>
      </p:sp>
      <p:sp>
        <p:nvSpPr>
          <p:cNvPr id="14" name="Object13"/>
          <p:cNvSpPr/>
          <p:nvPr/>
        </p:nvSpPr>
        <p:spPr>
          <a:xfrm>
            <a:off x="749808" y="252374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节点，技术栈/工具/软技能分类体系</a:t>
            </a:r>
            <a:endParaRPr lang="en-US" sz="1000" dirty="0"/>
          </a:p>
        </p:txBody>
      </p:sp>
      <p:sp>
        <p:nvSpPr>
          <p:cNvPr id="15" name="Object14"/>
          <p:cNvSpPr/>
          <p:nvPr/>
        </p:nvSpPr>
        <p:spPr>
          <a:xfrm>
            <a:off x="457200" y="290779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Object15"/>
          <p:cNvSpPr/>
          <p:nvPr/>
        </p:nvSpPr>
        <p:spPr>
          <a:xfrm>
            <a:off x="749808" y="2834640"/>
            <a:ext cx="40965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技能组 (SkillGroup)</a:t>
            </a:r>
            <a:endParaRPr lang="en-US" sz="1200" dirty="0"/>
          </a:p>
        </p:txBody>
      </p:sp>
      <p:sp>
        <p:nvSpPr>
          <p:cNvPr id="17" name="Object16"/>
          <p:cNvSpPr/>
          <p:nvPr/>
        </p:nvSpPr>
        <p:spPr>
          <a:xfrm>
            <a:off x="749808" y="307238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领域分类，如前端/后端/数据/设计等</a:t>
            </a:r>
            <a:endParaRPr lang="en-US" sz="1000" dirty="0"/>
          </a:p>
        </p:txBody>
      </p:sp>
      <p:sp>
        <p:nvSpPr>
          <p:cNvPr id="18" name="Object17"/>
          <p:cNvSpPr/>
          <p:nvPr/>
        </p:nvSpPr>
        <p:spPr>
          <a:xfrm>
            <a:off x="457200" y="3456432"/>
            <a:ext cx="164592" cy="16459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Object18"/>
          <p:cNvSpPr/>
          <p:nvPr/>
        </p:nvSpPr>
        <p:spPr>
          <a:xfrm>
            <a:off x="749808" y="3383280"/>
            <a:ext cx="40965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 (Course)</a:t>
            </a:r>
            <a:endParaRPr lang="en-US" sz="1200" dirty="0"/>
          </a:p>
        </p:txBody>
      </p:sp>
      <p:sp>
        <p:nvSpPr>
          <p:cNvPr id="20" name="Object19"/>
          <p:cNvSpPr/>
          <p:nvPr/>
        </p:nvSpPr>
        <p:spPr>
          <a:xfrm>
            <a:off x="749808" y="362102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3000+ 节点，MOOC 平台课程与技能关联</a:t>
            </a:r>
            <a:endParaRPr lang="en-US" sz="1000" dirty="0"/>
          </a:p>
        </p:txBody>
      </p:sp>
      <p:sp>
        <p:nvSpPr>
          <p:cNvPr id="21" name="Object20"/>
          <p:cNvSpPr/>
          <p:nvPr/>
        </p:nvSpPr>
        <p:spPr>
          <a:xfrm>
            <a:off x="457200" y="40416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核心关系</a:t>
            </a:r>
            <a:endParaRPr lang="en-US" sz="1200" dirty="0"/>
          </a:p>
        </p:txBody>
      </p:sp>
      <p:sp>
        <p:nvSpPr>
          <p:cNvPr id="22" name="Object21"/>
          <p:cNvSpPr/>
          <p:nvPr/>
        </p:nvSpPr>
        <p:spPr>
          <a:xfrm>
            <a:off x="457200" y="43342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REQUIRES（岗位-技能）</a:t>
            </a:r>
            <a:endParaRPr lang="en-US" sz="900" dirty="0"/>
          </a:p>
        </p:txBody>
      </p:sp>
      <p:sp>
        <p:nvSpPr>
          <p:cNvPr id="23" name="Object22"/>
          <p:cNvSpPr/>
          <p:nvPr/>
        </p:nvSpPr>
        <p:spPr>
          <a:xfrm>
            <a:off x="2651760" y="43342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BELONGS_TO（技能-技能组）</a:t>
            </a:r>
            <a:endParaRPr lang="en-US" sz="900" dirty="0"/>
          </a:p>
        </p:txBody>
      </p:sp>
      <p:sp>
        <p:nvSpPr>
          <p:cNvPr id="24" name="Object23"/>
          <p:cNvSpPr/>
          <p:nvPr/>
        </p:nvSpPr>
        <p:spPr>
          <a:xfrm>
            <a:off x="457200" y="45902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TEACHES（课程-技能）</a:t>
            </a:r>
            <a:endParaRPr lang="en-US" sz="900" dirty="0"/>
          </a:p>
        </p:txBody>
      </p:sp>
      <p:sp>
        <p:nvSpPr>
          <p:cNvPr id="25" name="Object24"/>
          <p:cNvSpPr/>
          <p:nvPr/>
        </p:nvSpPr>
        <p:spPr>
          <a:xfrm>
            <a:off x="2651760" y="45902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IS_SIMILAR（技能-技能）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智能抽取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大模型驱动的多维度信息抽取能力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716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Object7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9" name="Object8"/>
          <p:cNvSpPr/>
          <p:nvPr/>
        </p:nvSpPr>
        <p:spPr>
          <a:xfrm>
            <a:off x="1371600" y="1600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技能抽取</a:t>
            </a:r>
            <a:endParaRPr lang="en-US" sz="1500" dirty="0"/>
          </a:p>
        </p:txBody>
      </p:sp>
      <p:sp>
        <p:nvSpPr>
          <p:cNvPr id="10" name="Object9"/>
          <p:cNvSpPr/>
          <p:nvPr/>
        </p:nvSpPr>
        <p:spPr>
          <a:xfrm>
            <a:off x="731520" y="22402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从岗位描述中精准识别技术栈、工具、软技能，支持层级化技能分类</a:t>
            </a:r>
            <a:endParaRPr lang="en-US" sz="1200" dirty="0"/>
          </a:p>
        </p:txBody>
      </p:sp>
      <p:sp>
        <p:nvSpPr>
          <p:cNvPr id="11" name="Object10"/>
          <p:cNvSpPr/>
          <p:nvPr/>
        </p:nvSpPr>
        <p:spPr>
          <a:xfrm>
            <a:off x="4709160" y="13716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2" name="Object11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49377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4" name="Object13"/>
          <p:cNvSpPr/>
          <p:nvPr/>
        </p:nvSpPr>
        <p:spPr>
          <a:xfrm>
            <a:off x="5623560" y="1600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简历信息抽取</a:t>
            </a:r>
            <a:endParaRPr lang="en-US" sz="1500" dirty="0"/>
          </a:p>
        </p:txBody>
      </p:sp>
      <p:sp>
        <p:nvSpPr>
          <p:cNvPr id="15" name="Object14"/>
          <p:cNvSpPr/>
          <p:nvPr/>
        </p:nvSpPr>
        <p:spPr>
          <a:xfrm>
            <a:off x="4983480" y="22402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结构化提取教育背景、工作经历、项目经验、技能清单等核心字段</a:t>
            </a:r>
            <a:endParaRPr lang="en-US" sz="1200" dirty="0"/>
          </a:p>
        </p:txBody>
      </p:sp>
      <p:sp>
        <p:nvSpPr>
          <p:cNvPr id="16" name="Object15"/>
          <p:cNvSpPr/>
          <p:nvPr/>
        </p:nvSpPr>
        <p:spPr>
          <a:xfrm>
            <a:off x="457200" y="31546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Object1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Object17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Object18"/>
          <p:cNvSpPr/>
          <p:nvPr/>
        </p:nvSpPr>
        <p:spPr>
          <a:xfrm>
            <a:off x="1371600" y="3383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职位归一化</a:t>
            </a:r>
            <a:endParaRPr lang="en-US" sz="1500" dirty="0"/>
          </a:p>
        </p:txBody>
      </p:sp>
      <p:sp>
        <p:nvSpPr>
          <p:cNvPr id="20" name="Object19"/>
          <p:cNvSpPr/>
          <p:nvPr/>
        </p:nvSpPr>
        <p:spPr>
          <a:xfrm>
            <a:off x="731520" y="4023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同义词归并、别名映射，统一岗位命名标准，消除数据歧义</a:t>
            </a:r>
            <a:endParaRPr lang="en-US" sz="1200" dirty="0"/>
          </a:p>
        </p:txBody>
      </p:sp>
      <p:sp>
        <p:nvSpPr>
          <p:cNvPr id="21" name="Object20"/>
          <p:cNvSpPr/>
          <p:nvPr/>
        </p:nvSpPr>
        <p:spPr>
          <a:xfrm>
            <a:off x="4709160" y="31546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2" name="Object21"/>
          <p:cNvSpPr/>
          <p:nvPr/>
        </p:nvSpPr>
        <p:spPr>
          <a:xfrm>
            <a:off x="4937760" y="33832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Object22"/>
          <p:cNvSpPr/>
          <p:nvPr/>
        </p:nvSpPr>
        <p:spPr>
          <a:xfrm>
            <a:off x="49377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Object23"/>
          <p:cNvSpPr/>
          <p:nvPr/>
        </p:nvSpPr>
        <p:spPr>
          <a:xfrm>
            <a:off x="5623560" y="3383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软技能推断</a:t>
            </a:r>
            <a:endParaRPr lang="en-US" sz="1500" dirty="0"/>
          </a:p>
        </p:txBody>
      </p:sp>
      <p:sp>
        <p:nvSpPr>
          <p:cNvPr id="25" name="Object24"/>
          <p:cNvSpPr/>
          <p:nvPr/>
        </p:nvSpPr>
        <p:spPr>
          <a:xfrm>
            <a:off x="4983480" y="4023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从职责描述中推断隐含软技能要求，如沟通协作、领导力、问题解决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技能归一化引擎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从异构表述到统一技能体系的映射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归一化前</a:t>
            </a:r>
            <a:endParaRPr lang="en-US" sz="1600" dirty="0"/>
          </a:p>
        </p:txBody>
      </p:sp>
      <p:sp>
        <p:nvSpPr>
          <p:cNvPr id="8" name="Object7"/>
          <p:cNvSpPr/>
          <p:nvPr/>
        </p:nvSpPr>
        <p:spPr>
          <a:xfrm>
            <a:off x="731520" y="205740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9" name="Object8"/>
          <p:cNvSpPr/>
          <p:nvPr/>
        </p:nvSpPr>
        <p:spPr>
          <a:xfrm>
            <a:off x="731520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React.js / ReactJS / react</a:t>
            </a:r>
            <a:endParaRPr lang="en-US" sz="1100" dirty="0"/>
          </a:p>
        </p:txBody>
      </p:sp>
      <p:sp>
        <p:nvSpPr>
          <p:cNvPr id="10" name="Object9"/>
          <p:cNvSpPr/>
          <p:nvPr/>
        </p:nvSpPr>
        <p:spPr>
          <a:xfrm>
            <a:off x="731520" y="2441448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11" name="Object10"/>
          <p:cNvSpPr/>
          <p:nvPr/>
        </p:nvSpPr>
        <p:spPr>
          <a:xfrm>
            <a:off x="731520" y="2441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Node.js / NodeJS / Node</a:t>
            </a:r>
            <a:endParaRPr lang="en-US" sz="1100" dirty="0"/>
          </a:p>
        </p:txBody>
      </p:sp>
      <p:sp>
        <p:nvSpPr>
          <p:cNvPr id="12" name="Object11"/>
          <p:cNvSpPr/>
          <p:nvPr/>
        </p:nvSpPr>
        <p:spPr>
          <a:xfrm>
            <a:off x="731520" y="2825496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731520" y="28254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Python / PYTHON / python3</a:t>
            </a:r>
            <a:endParaRPr lang="en-US" sz="1100" dirty="0"/>
          </a:p>
        </p:txBody>
      </p:sp>
      <p:sp>
        <p:nvSpPr>
          <p:cNvPr id="14" name="Object13"/>
          <p:cNvSpPr/>
          <p:nvPr/>
        </p:nvSpPr>
        <p:spPr>
          <a:xfrm>
            <a:off x="731520" y="3209544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15" name="Object14"/>
          <p:cNvSpPr/>
          <p:nvPr/>
        </p:nvSpPr>
        <p:spPr>
          <a:xfrm>
            <a:off x="731520" y="32095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机器学习 / ML / Machine Learning</a:t>
            </a:r>
            <a:endParaRPr lang="en-US" sz="1100" dirty="0"/>
          </a:p>
        </p:txBody>
      </p:sp>
      <p:sp>
        <p:nvSpPr>
          <p:cNvPr id="16" name="Object15"/>
          <p:cNvSpPr/>
          <p:nvPr/>
        </p:nvSpPr>
        <p:spPr>
          <a:xfrm>
            <a:off x="731520" y="3593592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17" name="Object16"/>
          <p:cNvSpPr/>
          <p:nvPr/>
        </p:nvSpPr>
        <p:spPr>
          <a:xfrm>
            <a:off x="731520" y="35935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前端开发 / 前端工程师 / FE</a:t>
            </a:r>
            <a:endParaRPr lang="en-US" sz="1100" dirty="0"/>
          </a:p>
        </p:txBody>
      </p:sp>
      <p:sp>
        <p:nvSpPr>
          <p:cNvPr id="18" name="Object17"/>
          <p:cNvSpPr/>
          <p:nvPr/>
        </p:nvSpPr>
        <p:spPr>
          <a:xfrm>
            <a:off x="731520" y="397764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19" name="Object18"/>
          <p:cNvSpPr/>
          <p:nvPr/>
        </p:nvSpPr>
        <p:spPr>
          <a:xfrm>
            <a:off x="731520" y="3977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Vue.js / Vue / vue3</a:t>
            </a:r>
            <a:endParaRPr lang="en-US" sz="1100" dirty="0"/>
          </a:p>
        </p:txBody>
      </p:sp>
      <p:sp>
        <p:nvSpPr>
          <p:cNvPr id="20" name="Object19"/>
          <p:cNvSpPr/>
          <p:nvPr/>
        </p:nvSpPr>
        <p:spPr>
          <a:xfrm>
            <a:off x="438912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06B6D4"/>
                </a:solidFill>
              </a:rPr>
              <a:t>→</a:t>
            </a:r>
            <a:endParaRPr lang="en-US" sz="3200" dirty="0"/>
          </a:p>
        </p:txBody>
      </p:sp>
      <p:sp>
        <p:nvSpPr>
          <p:cNvPr id="21" name="Object20"/>
          <p:cNvSpPr/>
          <p:nvPr/>
        </p:nvSpPr>
        <p:spPr>
          <a:xfrm>
            <a:off x="4846320" y="13716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0C2D48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2" name="Object21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归一化后</a:t>
            </a:r>
            <a:endParaRPr lang="en-US" sz="1600" dirty="0"/>
          </a:p>
        </p:txBody>
      </p:sp>
      <p:sp>
        <p:nvSpPr>
          <p:cNvPr id="23" name="Object22"/>
          <p:cNvSpPr/>
          <p:nvPr/>
        </p:nvSpPr>
        <p:spPr>
          <a:xfrm>
            <a:off x="5120640" y="205740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4" name="Object23"/>
          <p:cNvSpPr/>
          <p:nvPr/>
        </p:nvSpPr>
        <p:spPr>
          <a:xfrm>
            <a:off x="5212080" y="2057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React</a:t>
            </a:r>
            <a:endParaRPr lang="en-US" sz="1100" dirty="0"/>
          </a:p>
        </p:txBody>
      </p:sp>
      <p:sp>
        <p:nvSpPr>
          <p:cNvPr id="25" name="Object24"/>
          <p:cNvSpPr/>
          <p:nvPr/>
        </p:nvSpPr>
        <p:spPr>
          <a:xfrm>
            <a:off x="6583680" y="2057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前端框架</a:t>
            </a:r>
            <a:endParaRPr lang="en-US" sz="1000" dirty="0"/>
          </a:p>
        </p:txBody>
      </p:sp>
      <p:sp>
        <p:nvSpPr>
          <p:cNvPr id="26" name="Object25"/>
          <p:cNvSpPr/>
          <p:nvPr/>
        </p:nvSpPr>
        <p:spPr>
          <a:xfrm>
            <a:off x="5120640" y="2441448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7" name="Object26"/>
          <p:cNvSpPr/>
          <p:nvPr/>
        </p:nvSpPr>
        <p:spPr>
          <a:xfrm>
            <a:off x="5212080" y="24414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Node.js</a:t>
            </a:r>
            <a:endParaRPr lang="en-US" sz="1100" dirty="0"/>
          </a:p>
        </p:txBody>
      </p:sp>
      <p:sp>
        <p:nvSpPr>
          <p:cNvPr id="28" name="Object27"/>
          <p:cNvSpPr/>
          <p:nvPr/>
        </p:nvSpPr>
        <p:spPr>
          <a:xfrm>
            <a:off x="6583680" y="2441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后端运行时</a:t>
            </a:r>
            <a:endParaRPr lang="en-US" sz="1000" dirty="0"/>
          </a:p>
        </p:txBody>
      </p:sp>
      <p:sp>
        <p:nvSpPr>
          <p:cNvPr id="29" name="Object28"/>
          <p:cNvSpPr/>
          <p:nvPr/>
        </p:nvSpPr>
        <p:spPr>
          <a:xfrm>
            <a:off x="5120640" y="2825496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0" name="Object29"/>
          <p:cNvSpPr/>
          <p:nvPr/>
        </p:nvSpPr>
        <p:spPr>
          <a:xfrm>
            <a:off x="5212080" y="2825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31" name="Object30"/>
          <p:cNvSpPr/>
          <p:nvPr/>
        </p:nvSpPr>
        <p:spPr>
          <a:xfrm>
            <a:off x="6583680" y="2825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编程语言</a:t>
            </a:r>
            <a:endParaRPr lang="en-US" sz="1000" dirty="0"/>
          </a:p>
        </p:txBody>
      </p:sp>
      <p:sp>
        <p:nvSpPr>
          <p:cNvPr id="32" name="Object31"/>
          <p:cNvSpPr/>
          <p:nvPr/>
        </p:nvSpPr>
        <p:spPr>
          <a:xfrm>
            <a:off x="5120640" y="3209544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3" name="Object32"/>
          <p:cNvSpPr/>
          <p:nvPr/>
        </p:nvSpPr>
        <p:spPr>
          <a:xfrm>
            <a:off x="5212080" y="3209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机器学习</a:t>
            </a:r>
            <a:endParaRPr lang="en-US" sz="1100" dirty="0"/>
          </a:p>
        </p:txBody>
      </p:sp>
      <p:sp>
        <p:nvSpPr>
          <p:cNvPr id="34" name="Object33"/>
          <p:cNvSpPr/>
          <p:nvPr/>
        </p:nvSpPr>
        <p:spPr>
          <a:xfrm>
            <a:off x="6583680" y="32095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AI/数据科学</a:t>
            </a:r>
            <a:endParaRPr lang="en-US" sz="1000" dirty="0"/>
          </a:p>
        </p:txBody>
      </p:sp>
      <p:sp>
        <p:nvSpPr>
          <p:cNvPr id="35" name="Object34"/>
          <p:cNvSpPr/>
          <p:nvPr/>
        </p:nvSpPr>
        <p:spPr>
          <a:xfrm>
            <a:off x="5120640" y="3593592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6" name="Object35"/>
          <p:cNvSpPr/>
          <p:nvPr/>
        </p:nvSpPr>
        <p:spPr>
          <a:xfrm>
            <a:off x="5212080" y="3593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前端开发</a:t>
            </a:r>
            <a:endParaRPr lang="en-US" sz="1100" dirty="0"/>
          </a:p>
        </p:txBody>
      </p:sp>
      <p:sp>
        <p:nvSpPr>
          <p:cNvPr id="37" name="Object36"/>
          <p:cNvSpPr/>
          <p:nvPr/>
        </p:nvSpPr>
        <p:spPr>
          <a:xfrm>
            <a:off x="658368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岗位方向</a:t>
            </a:r>
            <a:endParaRPr lang="en-US" sz="1000" dirty="0"/>
          </a:p>
        </p:txBody>
      </p:sp>
      <p:sp>
        <p:nvSpPr>
          <p:cNvPr id="38" name="Object37"/>
          <p:cNvSpPr/>
          <p:nvPr/>
        </p:nvSpPr>
        <p:spPr>
          <a:xfrm>
            <a:off x="5120640" y="397764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9" name="Object38"/>
          <p:cNvSpPr/>
          <p:nvPr/>
        </p:nvSpPr>
        <p:spPr>
          <a:xfrm>
            <a:off x="5212080" y="3977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b="1" dirty="0">
                <a:solidFill>
                  <a:srgbClr val="FFFFFF"/>
                </a:solidFill>
              </a:rPr>
              <a:t>Vue.js</a:t>
            </a:r>
            <a:endParaRPr lang="en-US" sz="1100" dirty="0"/>
          </a:p>
        </p:txBody>
      </p:sp>
      <p:sp>
        <p:nvSpPr>
          <p:cNvPr id="40" name="Object39"/>
          <p:cNvSpPr/>
          <p:nvPr/>
        </p:nvSpPr>
        <p:spPr>
          <a:xfrm>
            <a:off x="658368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22D3EE"/>
                </a:solidFill>
              </a:rPr>
              <a:t>前端框架</a:t>
            </a:r>
            <a:endParaRPr lang="en-US" sz="1000" dirty="0"/>
          </a:p>
        </p:txBody>
      </p:sp>
      <p:sp>
        <p:nvSpPr>
          <p:cNvPr id="41" name="Object40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1E293B">
              <a:alpha val="70000"/>
            </a:srgbClr>
          </a:solidFill>
          <a:ln w="635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2" name="Object41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多策略融合：规则匹配 + 语义相似度 + LLM 校验，归一化准确率达 95%+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智能匹配引擎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语义增强 + Bradley-Terry 权重调优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Object6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Object7"/>
          <p:cNvSpPr/>
          <p:nvPr/>
        </p:nvSpPr>
        <p:spPr>
          <a:xfrm>
            <a:off x="9144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多维度特征</a:t>
            </a:r>
            <a:endParaRPr lang="en-US" sz="1400" dirty="0"/>
          </a:p>
        </p:txBody>
      </p:sp>
      <p:sp>
        <p:nvSpPr>
          <p:cNvPr id="9" name="Object8"/>
          <p:cNvSpPr/>
          <p:nvPr/>
        </p:nvSpPr>
        <p:spPr>
          <a:xfrm>
            <a:off x="9144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技能匹配度 / 经验匹配 / 学历匹配 / 城市适配 / 薪资预期</a:t>
            </a:r>
            <a:endParaRPr lang="en-US" sz="1100" dirty="0"/>
          </a:p>
        </p:txBody>
      </p:sp>
      <p:sp>
        <p:nvSpPr>
          <p:cNvPr id="10" name="Object9"/>
          <p:cNvSpPr/>
          <p:nvPr/>
        </p:nvSpPr>
        <p:spPr>
          <a:xfrm>
            <a:off x="457200" y="21945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Object10"/>
          <p:cNvSpPr/>
          <p:nvPr/>
        </p:nvSpPr>
        <p:spPr>
          <a:xfrm>
            <a:off x="45720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Object11"/>
          <p:cNvSpPr/>
          <p:nvPr/>
        </p:nvSpPr>
        <p:spPr>
          <a:xfrm>
            <a:off x="91440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语义增强</a:t>
            </a:r>
            <a:endParaRPr lang="en-US" sz="1400" dirty="0"/>
          </a:p>
        </p:txBody>
      </p:sp>
      <p:sp>
        <p:nvSpPr>
          <p:cNvPr id="13" name="Object12"/>
          <p:cNvSpPr/>
          <p:nvPr/>
        </p:nvSpPr>
        <p:spPr>
          <a:xfrm>
            <a:off x="9144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基于向量嵌入的技能语义相似度计算，捕捉隐性技能关联</a:t>
            </a:r>
            <a:endParaRPr lang="en-US" sz="1100" dirty="0"/>
          </a:p>
        </p:txBody>
      </p:sp>
      <p:sp>
        <p:nvSpPr>
          <p:cNvPr id="14" name="Object13"/>
          <p:cNvSpPr/>
          <p:nvPr/>
        </p:nvSpPr>
        <p:spPr>
          <a:xfrm>
            <a:off x="457200" y="29260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Object14"/>
          <p:cNvSpPr/>
          <p:nvPr/>
        </p:nvSpPr>
        <p:spPr>
          <a:xfrm>
            <a:off x="4572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Object15"/>
          <p:cNvSpPr/>
          <p:nvPr/>
        </p:nvSpPr>
        <p:spPr>
          <a:xfrm>
            <a:off x="91440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权重调优</a:t>
            </a:r>
            <a:endParaRPr lang="en-US" sz="1400" dirty="0"/>
          </a:p>
        </p:txBody>
      </p:sp>
      <p:sp>
        <p:nvSpPr>
          <p:cNvPr id="17" name="Object16"/>
          <p:cNvSpPr/>
          <p:nvPr/>
        </p:nvSpPr>
        <p:spPr>
          <a:xfrm>
            <a:off x="91440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模型 + Optuna 优化，自动学习各维度最优权重</a:t>
            </a:r>
            <a:endParaRPr lang="en-US" sz="1100" dirty="0"/>
          </a:p>
        </p:txBody>
      </p:sp>
      <p:sp>
        <p:nvSpPr>
          <p:cNvPr id="18" name="Object17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Object18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Object19"/>
          <p:cNvSpPr/>
          <p:nvPr/>
        </p:nvSpPr>
        <p:spPr>
          <a:xfrm>
            <a:off x="91440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多样性推荐</a:t>
            </a:r>
            <a:endParaRPr lang="en-US" sz="1400" dirty="0"/>
          </a:p>
        </p:txBody>
      </p:sp>
      <p:sp>
        <p:nvSpPr>
          <p:cNvPr id="21" name="Object20"/>
          <p:cNvSpPr/>
          <p:nvPr/>
        </p:nvSpPr>
        <p:spPr>
          <a:xfrm>
            <a:off x="91440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重排序策略，平衡匹配精度与结果多样性</a:t>
            </a:r>
            <a:endParaRPr lang="en-US" sz="1100" dirty="0"/>
          </a:p>
        </p:txBody>
      </p:sp>
      <p:sp>
        <p:nvSpPr>
          <p:cNvPr id="22" name="Object21"/>
          <p:cNvSpPr/>
          <p:nvPr/>
        </p:nvSpPr>
        <p:spPr>
          <a:xfrm>
            <a:off x="5303520" y="12801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pic>
        <p:nvPicPr>
          <p:cNvPr id="23" name="Object 22" descr="/workspace/zhigang-compass/docs/ppt/images/hero-matching-eng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417320"/>
            <a:ext cx="31089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 descr=""/>
          <p:cNvGraphicFramePr/>
          <p:nvPr/>
        </p:nvGraphicFramePr>
        <p:xfrm>
          <a:off x="914400" y="3474720"/>
          <a:ext cx="7315200" cy="11201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Object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Object3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Object4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三项准确率验证</a:t>
            </a:r>
            <a:endParaRPr lang="en-US" sz="2800" dirty="0"/>
          </a:p>
        </p:txBody>
      </p:sp>
      <p:sp>
        <p:nvSpPr>
          <p:cNvPr id="6" name="Object5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核心指标全部超过 90% 目标线</a:t>
            </a:r>
            <a:endParaRPr lang="en-US" sz="1300" dirty="0"/>
          </a:p>
        </p:txBody>
      </p:sp>
      <p:sp>
        <p:nvSpPr>
          <p:cNvPr id="7" name="Object6"/>
          <p:cNvSpPr/>
          <p:nvPr/>
        </p:nvSpPr>
        <p:spPr>
          <a:xfrm>
            <a:off x="457200" y="137160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8" name="Object7"/>
          <p:cNvSpPr/>
          <p:nvPr/>
        </p:nvSpPr>
        <p:spPr>
          <a:xfrm>
            <a:off x="457200" y="160020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抽取 F1</a:t>
            </a:r>
            <a:endParaRPr lang="en-US" sz="1400" dirty="0"/>
          </a:p>
        </p:txBody>
      </p:sp>
      <p:sp>
        <p:nvSpPr>
          <p:cNvPr id="9" name="Object8"/>
          <p:cNvSpPr/>
          <p:nvPr/>
        </p:nvSpPr>
        <p:spPr>
          <a:xfrm>
            <a:off x="457200" y="192024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0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90.38%</a:t>
            </a:r>
            <a:endParaRPr lang="en-US" sz="4000" dirty="0"/>
          </a:p>
        </p:txBody>
      </p:sp>
      <p:sp>
        <p:nvSpPr>
          <p:cNvPr id="10" name="Object9"/>
          <p:cNvSpPr/>
          <p:nvPr/>
        </p:nvSpPr>
        <p:spPr>
          <a:xfrm>
            <a:off x="112776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11" name="Object10"/>
          <p:cNvSpPr/>
          <p:nvPr/>
        </p:nvSpPr>
        <p:spPr>
          <a:xfrm>
            <a:off x="1127760" y="2743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✓ 目标 ≥ 90%</a:t>
            </a:r>
            <a:endParaRPr lang="en-US" sz="1100" dirty="0"/>
          </a:p>
        </p:txBody>
      </p:sp>
      <p:sp>
        <p:nvSpPr>
          <p:cNvPr id="12" name="Object11"/>
          <p:cNvSpPr/>
          <p:nvPr/>
        </p:nvSpPr>
        <p:spPr>
          <a:xfrm>
            <a:off x="3261360" y="137160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3" name="Object12"/>
          <p:cNvSpPr/>
          <p:nvPr/>
        </p:nvSpPr>
        <p:spPr>
          <a:xfrm>
            <a:off x="3261360" y="160020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简历抽取 F1</a:t>
            </a:r>
            <a:endParaRPr lang="en-US" sz="1400" dirty="0"/>
          </a:p>
        </p:txBody>
      </p:sp>
      <p:sp>
        <p:nvSpPr>
          <p:cNvPr id="14" name="Object13"/>
          <p:cNvSpPr/>
          <p:nvPr/>
        </p:nvSpPr>
        <p:spPr>
          <a:xfrm>
            <a:off x="3261360" y="192024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0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93.38%</a:t>
            </a:r>
            <a:endParaRPr lang="en-US" sz="4000" dirty="0"/>
          </a:p>
        </p:txBody>
      </p:sp>
      <p:sp>
        <p:nvSpPr>
          <p:cNvPr id="15" name="Object14"/>
          <p:cNvSpPr/>
          <p:nvPr/>
        </p:nvSpPr>
        <p:spPr>
          <a:xfrm>
            <a:off x="393192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16" name="Object15"/>
          <p:cNvSpPr/>
          <p:nvPr/>
        </p:nvSpPr>
        <p:spPr>
          <a:xfrm>
            <a:off x="3931920" y="2743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✓ 目标 ≥ 90%</a:t>
            </a:r>
            <a:endParaRPr lang="en-US" sz="1100" dirty="0"/>
          </a:p>
        </p:txBody>
      </p:sp>
      <p:sp>
        <p:nvSpPr>
          <p:cNvPr id="17" name="Object16"/>
          <p:cNvSpPr/>
          <p:nvPr/>
        </p:nvSpPr>
        <p:spPr>
          <a:xfrm>
            <a:off x="6065520" y="1371600"/>
            <a:ext cx="2621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8" name="Object17"/>
          <p:cNvSpPr/>
          <p:nvPr/>
        </p:nvSpPr>
        <p:spPr>
          <a:xfrm>
            <a:off x="6065520" y="160020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匹配准确率</a:t>
            </a:r>
            <a:endParaRPr lang="en-US" sz="1400" dirty="0"/>
          </a:p>
        </p:txBody>
      </p:sp>
      <p:sp>
        <p:nvSpPr>
          <p:cNvPr id="19" name="Object18"/>
          <p:cNvSpPr/>
          <p:nvPr/>
        </p:nvSpPr>
        <p:spPr>
          <a:xfrm>
            <a:off x="6065520" y="192024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0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96.00%</a:t>
            </a:r>
            <a:endParaRPr lang="en-US" sz="4000" dirty="0"/>
          </a:p>
        </p:txBody>
      </p:sp>
      <p:sp>
        <p:nvSpPr>
          <p:cNvPr id="20" name="Object19"/>
          <p:cNvSpPr/>
          <p:nvPr/>
        </p:nvSpPr>
        <p:spPr>
          <a:xfrm>
            <a:off x="673608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1" name="Object20"/>
          <p:cNvSpPr/>
          <p:nvPr/>
        </p:nvSpPr>
        <p:spPr>
          <a:xfrm>
            <a:off x="6736080" y="27432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✓ 目标 ≥ 90%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产品功能：图谱全景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交互式技能知识图谱，可视化探索技能生态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280160"/>
            <a:ext cx="475488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pic>
        <p:nvPicPr>
          <p:cNvPr id="7" name="Object 6" descr="/workspace/zhigang-compass/docs/ppt/images/hero-graph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17320"/>
            <a:ext cx="4480560" cy="32004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5669280" y="1444752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Object8"/>
          <p:cNvSpPr/>
          <p:nvPr/>
        </p:nvSpPr>
        <p:spPr>
          <a:xfrm>
            <a:off x="598932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力导向图谱</a:t>
            </a:r>
            <a:endParaRPr lang="en-US" sz="1300" dirty="0"/>
          </a:p>
        </p:txBody>
      </p:sp>
      <p:sp>
        <p:nvSpPr>
          <p:cNvPr id="10" name="Object9"/>
          <p:cNvSpPr/>
          <p:nvPr/>
        </p:nvSpPr>
        <p:spPr>
          <a:xfrm>
            <a:off x="5989320" y="16276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 节点实时渲染，缩放拖拽流畅交互</a:t>
            </a:r>
            <a:endParaRPr lang="en-US" sz="1100" dirty="0"/>
          </a:p>
        </p:txBody>
      </p:sp>
      <p:sp>
        <p:nvSpPr>
          <p:cNvPr id="11" name="Object10"/>
          <p:cNvSpPr/>
          <p:nvPr/>
        </p:nvSpPr>
        <p:spPr>
          <a:xfrm>
            <a:off x="5669280" y="20665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Object11"/>
          <p:cNvSpPr/>
          <p:nvPr/>
        </p:nvSpPr>
        <p:spPr>
          <a:xfrm>
            <a:off x="5989320" y="19933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多维度筛选</a:t>
            </a:r>
            <a:endParaRPr lang="en-US" sz="1300" dirty="0"/>
          </a:p>
        </p:txBody>
      </p:sp>
      <p:sp>
        <p:nvSpPr>
          <p:cNvPr id="13" name="Object12"/>
          <p:cNvSpPr/>
          <p:nvPr/>
        </p:nvSpPr>
        <p:spPr>
          <a:xfrm>
            <a:off x="5989320" y="224942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按城市/经验/薪资/技能组多条件过滤</a:t>
            </a:r>
            <a:endParaRPr lang="en-US" sz="1100" dirty="0"/>
          </a:p>
        </p:txBody>
      </p:sp>
      <p:sp>
        <p:nvSpPr>
          <p:cNvPr id="14" name="Object13"/>
          <p:cNvSpPr/>
          <p:nvPr/>
        </p:nvSpPr>
        <p:spPr>
          <a:xfrm>
            <a:off x="5669280" y="268833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Object14"/>
          <p:cNvSpPr/>
          <p:nvPr/>
        </p:nvSpPr>
        <p:spPr>
          <a:xfrm>
            <a:off x="5989320" y="26151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技能搜索</a:t>
            </a:r>
            <a:endParaRPr lang="en-US" sz="1300" dirty="0"/>
          </a:p>
        </p:txBody>
      </p:sp>
      <p:sp>
        <p:nvSpPr>
          <p:cNvPr id="16" name="Object15"/>
          <p:cNvSpPr/>
          <p:nvPr/>
        </p:nvSpPr>
        <p:spPr>
          <a:xfrm>
            <a:off x="5989320" y="287121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模糊搜索 + 联想推荐，秒级定位技能节点</a:t>
            </a:r>
            <a:endParaRPr lang="en-US" sz="1100" dirty="0"/>
          </a:p>
        </p:txBody>
      </p:sp>
      <p:sp>
        <p:nvSpPr>
          <p:cNvPr id="17" name="Object16"/>
          <p:cNvSpPr/>
          <p:nvPr/>
        </p:nvSpPr>
        <p:spPr>
          <a:xfrm>
            <a:off x="5669280" y="331012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Object17"/>
          <p:cNvSpPr/>
          <p:nvPr/>
        </p:nvSpPr>
        <p:spPr>
          <a:xfrm>
            <a:off x="5989320" y="32369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详情面板</a:t>
            </a:r>
            <a:endParaRPr lang="en-US" sz="1300" dirty="0"/>
          </a:p>
        </p:txBody>
      </p:sp>
      <p:sp>
        <p:nvSpPr>
          <p:cNvPr id="19" name="Object18"/>
          <p:cNvSpPr/>
          <p:nvPr/>
        </p:nvSpPr>
        <p:spPr>
          <a:xfrm>
            <a:off x="5989320" y="34930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点击查看岗位/技能详情与关联关系</a:t>
            </a:r>
            <a:endParaRPr lang="en-US" sz="1100" dirty="0"/>
          </a:p>
        </p:txBody>
      </p:sp>
      <p:sp>
        <p:nvSpPr>
          <p:cNvPr id="20" name="Object19"/>
          <p:cNvSpPr/>
          <p:nvPr/>
        </p:nvSpPr>
        <p:spPr>
          <a:xfrm>
            <a:off x="5669280" y="393192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Object20"/>
          <p:cNvSpPr/>
          <p:nvPr/>
        </p:nvSpPr>
        <p:spPr>
          <a:xfrm>
            <a:off x="5989320" y="3858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响应式布局</a:t>
            </a:r>
            <a:endParaRPr lang="en-US" sz="1300" dirty="0"/>
          </a:p>
        </p:txBody>
      </p:sp>
      <p:sp>
        <p:nvSpPr>
          <p:cNvPr id="22" name="Object21"/>
          <p:cNvSpPr/>
          <p:nvPr/>
        </p:nvSpPr>
        <p:spPr>
          <a:xfrm>
            <a:off x="598932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桌面/平板/手机三端自适应体验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产品功能：简历匹配 &amp; 演化看板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人岗智能匹配 + 技能演化趋势洞察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2588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pic>
        <p:nvPicPr>
          <p:cNvPr id="7" name="Object 6" descr="/workspace/zhigang-compass/docs/ppt/images/card-resume-ma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3703320" cy="1183234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731520" y="273771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简历智能匹配</a:t>
            </a:r>
            <a:endParaRPr lang="en-US" sz="1700" dirty="0"/>
          </a:p>
        </p:txBody>
      </p:sp>
      <p:sp>
        <p:nvSpPr>
          <p:cNvPr id="9" name="Object8"/>
          <p:cNvSpPr/>
          <p:nvPr/>
        </p:nvSpPr>
        <p:spPr>
          <a:xfrm>
            <a:off x="731520" y="3103474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Object9"/>
          <p:cNvSpPr/>
          <p:nvPr/>
        </p:nvSpPr>
        <p:spPr>
          <a:xfrm>
            <a:off x="731520" y="324063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Object10"/>
          <p:cNvSpPr/>
          <p:nvPr/>
        </p:nvSpPr>
        <p:spPr>
          <a:xfrm>
            <a:off x="1005840" y="324063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上传简历自动解析技能</a:t>
            </a:r>
            <a:endParaRPr lang="en-US" sz="1200" dirty="0"/>
          </a:p>
        </p:txBody>
      </p:sp>
      <p:sp>
        <p:nvSpPr>
          <p:cNvPr id="12" name="Object11"/>
          <p:cNvSpPr/>
          <p:nvPr/>
        </p:nvSpPr>
        <p:spPr>
          <a:xfrm>
            <a:off x="731520" y="365211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Object12"/>
          <p:cNvSpPr/>
          <p:nvPr/>
        </p:nvSpPr>
        <p:spPr>
          <a:xfrm>
            <a:off x="1005840" y="365211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多维度匹配评分与排名</a:t>
            </a:r>
            <a:endParaRPr lang="en-US" sz="1200" dirty="0"/>
          </a:p>
        </p:txBody>
      </p:sp>
      <p:sp>
        <p:nvSpPr>
          <p:cNvPr id="14" name="Object13"/>
          <p:cNvSpPr/>
          <p:nvPr/>
        </p:nvSpPr>
        <p:spPr>
          <a:xfrm>
            <a:off x="731520" y="406359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Object14"/>
          <p:cNvSpPr/>
          <p:nvPr/>
        </p:nvSpPr>
        <p:spPr>
          <a:xfrm>
            <a:off x="1005840" y="406359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差距分析与提升建议</a:t>
            </a:r>
            <a:endParaRPr lang="en-US" sz="1200" dirty="0"/>
          </a:p>
        </p:txBody>
      </p:sp>
      <p:sp>
        <p:nvSpPr>
          <p:cNvPr id="16" name="Object15"/>
          <p:cNvSpPr/>
          <p:nvPr/>
        </p:nvSpPr>
        <p:spPr>
          <a:xfrm>
            <a:off x="731520" y="447507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Object16"/>
          <p:cNvSpPr/>
          <p:nvPr/>
        </p:nvSpPr>
        <p:spPr>
          <a:xfrm>
            <a:off x="1005840" y="447507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学习路径智能推荐</a:t>
            </a:r>
            <a:endParaRPr lang="en-US" sz="1200" dirty="0"/>
          </a:p>
        </p:txBody>
      </p:sp>
      <p:sp>
        <p:nvSpPr>
          <p:cNvPr id="18" name="Object17"/>
          <p:cNvSpPr/>
          <p:nvPr/>
        </p:nvSpPr>
        <p:spPr>
          <a:xfrm>
            <a:off x="4709160" y="132588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pic>
        <p:nvPicPr>
          <p:cNvPr id="19" name="Object 18" descr="/workspace/zhigang-compass/docs/ppt/images/card-evolu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63040"/>
            <a:ext cx="3703320" cy="1183234"/>
          </a:xfrm>
          <a:prstGeom prst="rect">
            <a:avLst/>
          </a:prstGeom>
        </p:spPr>
      </p:pic>
      <p:sp>
        <p:nvSpPr>
          <p:cNvPr id="20" name="Object19"/>
          <p:cNvSpPr/>
          <p:nvPr/>
        </p:nvSpPr>
        <p:spPr>
          <a:xfrm>
            <a:off x="4983480" y="273771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技能演化看板</a:t>
            </a:r>
            <a:endParaRPr lang="en-US" sz="1700" dirty="0"/>
          </a:p>
        </p:txBody>
      </p:sp>
      <p:sp>
        <p:nvSpPr>
          <p:cNvPr id="21" name="Object20"/>
          <p:cNvSpPr/>
          <p:nvPr/>
        </p:nvSpPr>
        <p:spPr>
          <a:xfrm>
            <a:off x="4983480" y="3103474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Object21"/>
          <p:cNvSpPr/>
          <p:nvPr/>
        </p:nvSpPr>
        <p:spPr>
          <a:xfrm>
            <a:off x="4983480" y="324063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Object22"/>
          <p:cNvSpPr/>
          <p:nvPr/>
        </p:nvSpPr>
        <p:spPr>
          <a:xfrm>
            <a:off x="5257800" y="324063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技能需求趋势追踪</a:t>
            </a:r>
            <a:endParaRPr lang="en-US" sz="1200" dirty="0"/>
          </a:p>
        </p:txBody>
      </p:sp>
      <p:sp>
        <p:nvSpPr>
          <p:cNvPr id="24" name="Object23"/>
          <p:cNvSpPr/>
          <p:nvPr/>
        </p:nvSpPr>
        <p:spPr>
          <a:xfrm>
            <a:off x="4983480" y="365211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Object24"/>
          <p:cNvSpPr/>
          <p:nvPr/>
        </p:nvSpPr>
        <p:spPr>
          <a:xfrm>
            <a:off x="5257800" y="365211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新旧技能更替可视化</a:t>
            </a:r>
            <a:endParaRPr lang="en-US" sz="1200" dirty="0"/>
          </a:p>
        </p:txBody>
      </p:sp>
      <p:sp>
        <p:nvSpPr>
          <p:cNvPr id="26" name="Object25"/>
          <p:cNvSpPr/>
          <p:nvPr/>
        </p:nvSpPr>
        <p:spPr>
          <a:xfrm>
            <a:off x="4983480" y="406359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Object26"/>
          <p:cNvSpPr/>
          <p:nvPr/>
        </p:nvSpPr>
        <p:spPr>
          <a:xfrm>
            <a:off x="5257800" y="406359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岗位结构变化分析</a:t>
            </a:r>
            <a:endParaRPr lang="en-US" sz="1200" dirty="0"/>
          </a:p>
        </p:txBody>
      </p:sp>
      <p:sp>
        <p:nvSpPr>
          <p:cNvPr id="28" name="Object27"/>
          <p:cNvSpPr/>
          <p:nvPr/>
        </p:nvSpPr>
        <p:spPr>
          <a:xfrm>
            <a:off x="4983480" y="447507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06B6D4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Object28"/>
          <p:cNvSpPr/>
          <p:nvPr/>
        </p:nvSpPr>
        <p:spPr>
          <a:xfrm>
            <a:off x="5257800" y="447507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未来技能预测洞察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性能优化成果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全栈性能调优，用户体验显著提升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258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457200" y="150876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6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~181KB</a:t>
            </a:r>
            <a:endParaRPr lang="en-US" sz="2600" dirty="0"/>
          </a:p>
        </p:txBody>
      </p:sp>
      <p:sp>
        <p:nvSpPr>
          <p:cNvPr id="8" name="Object7"/>
          <p:cNvSpPr/>
          <p:nvPr/>
        </p:nvSpPr>
        <p:spPr>
          <a:xfrm>
            <a:off x="457200" y="201168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首屏 JS gzip</a:t>
            </a:r>
            <a:endParaRPr lang="en-US" sz="1300" dirty="0"/>
          </a:p>
        </p:txBody>
      </p:sp>
      <p:sp>
        <p:nvSpPr>
          <p:cNvPr id="9" name="Object8"/>
          <p:cNvSpPr/>
          <p:nvPr/>
        </p:nvSpPr>
        <p:spPr>
          <a:xfrm>
            <a:off x="457200" y="228600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分包 + 路由懒加载</a:t>
            </a:r>
            <a:endParaRPr lang="en-US" sz="1000" dirty="0"/>
          </a:p>
        </p:txBody>
      </p:sp>
      <p:sp>
        <p:nvSpPr>
          <p:cNvPr id="10" name="Object9"/>
          <p:cNvSpPr/>
          <p:nvPr/>
        </p:nvSpPr>
        <p:spPr>
          <a:xfrm>
            <a:off x="2548890" y="13258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Object10"/>
          <p:cNvSpPr/>
          <p:nvPr/>
        </p:nvSpPr>
        <p:spPr>
          <a:xfrm>
            <a:off x="2548890" y="150876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6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2s</a:t>
            </a:r>
            <a:endParaRPr lang="en-US" sz="2600" dirty="0"/>
          </a:p>
        </p:txBody>
      </p:sp>
      <p:sp>
        <p:nvSpPr>
          <p:cNvPr id="12" name="Object11"/>
          <p:cNvSpPr/>
          <p:nvPr/>
        </p:nvSpPr>
        <p:spPr>
          <a:xfrm>
            <a:off x="2548890" y="201168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响应时间</a:t>
            </a:r>
            <a:endParaRPr lang="en-US" sz="1300" dirty="0"/>
          </a:p>
        </p:txBody>
      </p:sp>
      <p:sp>
        <p:nvSpPr>
          <p:cNvPr id="13" name="Object12"/>
          <p:cNvSpPr/>
          <p:nvPr/>
        </p:nvSpPr>
        <p:spPr>
          <a:xfrm>
            <a:off x="2548890" y="228600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并发下压测达标</a:t>
            </a:r>
            <a:endParaRPr lang="en-US" sz="1000" dirty="0"/>
          </a:p>
        </p:txBody>
      </p:sp>
      <p:sp>
        <p:nvSpPr>
          <p:cNvPr id="14" name="Object13"/>
          <p:cNvSpPr/>
          <p:nvPr/>
        </p:nvSpPr>
        <p:spPr>
          <a:xfrm>
            <a:off x="4640580" y="13258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Object14"/>
          <p:cNvSpPr/>
          <p:nvPr/>
        </p:nvSpPr>
        <p:spPr>
          <a:xfrm>
            <a:off x="4640580" y="150876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6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3.2x</a:t>
            </a:r>
            <a:endParaRPr lang="en-US" sz="2600" dirty="0"/>
          </a:p>
        </p:txBody>
      </p:sp>
      <p:sp>
        <p:nvSpPr>
          <p:cNvPr id="16" name="Object15"/>
          <p:cNvSpPr/>
          <p:nvPr/>
        </p:nvSpPr>
        <p:spPr>
          <a:xfrm>
            <a:off x="4640580" y="201168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批量抽取加速</a:t>
            </a:r>
            <a:endParaRPr lang="en-US" sz="1300" dirty="0"/>
          </a:p>
        </p:txBody>
      </p:sp>
      <p:sp>
        <p:nvSpPr>
          <p:cNvPr id="17" name="Object16"/>
          <p:cNvSpPr/>
          <p:nvPr/>
        </p:nvSpPr>
        <p:spPr>
          <a:xfrm>
            <a:off x="4640580" y="228600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 + 缓存优化</a:t>
            </a:r>
            <a:endParaRPr lang="en-US" sz="1000" dirty="0"/>
          </a:p>
        </p:txBody>
      </p:sp>
      <p:sp>
        <p:nvSpPr>
          <p:cNvPr id="18" name="Object17"/>
          <p:cNvSpPr/>
          <p:nvPr/>
        </p:nvSpPr>
        <p:spPr>
          <a:xfrm>
            <a:off x="6732270" y="13258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Object18"/>
          <p:cNvSpPr/>
          <p:nvPr/>
        </p:nvSpPr>
        <p:spPr>
          <a:xfrm>
            <a:off x="6732270" y="150876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6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2600" dirty="0"/>
          </a:p>
        </p:txBody>
      </p:sp>
      <p:sp>
        <p:nvSpPr>
          <p:cNvPr id="20" name="Object19"/>
          <p:cNvSpPr/>
          <p:nvPr/>
        </p:nvSpPr>
        <p:spPr>
          <a:xfrm>
            <a:off x="6732270" y="201168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缓存有效期</a:t>
            </a:r>
            <a:endParaRPr lang="en-US" sz="1300" dirty="0"/>
          </a:p>
        </p:txBody>
      </p:sp>
      <p:sp>
        <p:nvSpPr>
          <p:cNvPr id="21" name="Object20"/>
          <p:cNvSpPr/>
          <p:nvPr/>
        </p:nvSpPr>
        <p:spPr>
          <a:xfrm>
            <a:off x="6732270" y="2286000"/>
            <a:ext cx="195453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优化</a:t>
            </a:r>
            <a:endParaRPr lang="en-US" sz="1000" dirty="0"/>
          </a:p>
        </p:txBody>
      </p:sp>
      <p:sp>
        <p:nvSpPr>
          <p:cNvPr id="22" name="Object21"/>
          <p:cNvSpPr/>
          <p:nvPr/>
        </p:nvSpPr>
        <p:spPr>
          <a:xfrm>
            <a:off x="457200" y="3044952"/>
            <a:ext cx="457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Object22"/>
          <p:cNvSpPr/>
          <p:nvPr/>
        </p:nvSpPr>
        <p:spPr>
          <a:xfrm>
            <a:off x="64008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前端优化</a:t>
            </a:r>
            <a:endParaRPr lang="en-US" sz="1300" dirty="0"/>
          </a:p>
        </p:txBody>
      </p:sp>
      <p:sp>
        <p:nvSpPr>
          <p:cNvPr id="24" name="Object23"/>
          <p:cNvSpPr/>
          <p:nvPr/>
        </p:nvSpPr>
        <p:spPr>
          <a:xfrm>
            <a:off x="210312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manualChunks 分包 · 骨架屏 · 搜索防抖 · 路由预取 · 图片懒加载</a:t>
            </a:r>
            <a:endParaRPr lang="en-US" sz="1200" dirty="0"/>
          </a:p>
        </p:txBody>
      </p:sp>
      <p:sp>
        <p:nvSpPr>
          <p:cNvPr id="25" name="Object24"/>
          <p:cNvSpPr/>
          <p:nvPr/>
        </p:nvSpPr>
        <p:spPr>
          <a:xfrm>
            <a:off x="457200" y="3547872"/>
            <a:ext cx="457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Object25"/>
          <p:cNvSpPr/>
          <p:nvPr/>
        </p:nvSpPr>
        <p:spPr>
          <a:xfrm>
            <a:off x="6400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后端优化</a:t>
            </a:r>
            <a:endParaRPr lang="en-US" sz="1300" dirty="0"/>
          </a:p>
        </p:txBody>
      </p:sp>
      <p:sp>
        <p:nvSpPr>
          <p:cNvPr id="27" name="Object26"/>
          <p:cNvSpPr/>
          <p:nvPr/>
        </p:nvSpPr>
        <p:spPr>
          <a:xfrm>
            <a:off x="21031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连接池调优 · Redis 多级缓存 · Gunicorn 多 worker · SQL 索引优化</a:t>
            </a:r>
            <a:endParaRPr lang="en-US" sz="1200" dirty="0"/>
          </a:p>
        </p:txBody>
      </p:sp>
      <p:sp>
        <p:nvSpPr>
          <p:cNvPr id="28" name="Object27"/>
          <p:cNvSpPr/>
          <p:nvPr/>
        </p:nvSpPr>
        <p:spPr>
          <a:xfrm>
            <a:off x="457200" y="4050792"/>
            <a:ext cx="457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Object28"/>
          <p:cNvSpPr/>
          <p:nvPr/>
        </p:nvSpPr>
        <p:spPr>
          <a:xfrm>
            <a:off x="64008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算法优化</a:t>
            </a:r>
            <a:endParaRPr lang="en-US" sz="1300" dirty="0"/>
          </a:p>
        </p:txBody>
      </p:sp>
      <p:sp>
        <p:nvSpPr>
          <p:cNvPr id="30" name="Object29"/>
          <p:cNvSpPr/>
          <p:nvPr/>
        </p:nvSpPr>
        <p:spPr>
          <a:xfrm>
            <a:off x="2103120" y="3977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批量抽取并行化 · 向量缓存复用 · BT 模型增量更新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技术亮点与创新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四大核心创新点，构建差异化竞争优势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71600"/>
            <a:ext cx="390906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3451860" y="14630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48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Object7"/>
          <p:cNvSpPr/>
          <p:nvPr/>
        </p:nvSpPr>
        <p:spPr>
          <a:xfrm>
            <a:off x="731520" y="1600200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多源异构数据融合</a:t>
            </a:r>
            <a:endParaRPr lang="en-US" sz="1500" dirty="0"/>
          </a:p>
        </p:txBody>
      </p:sp>
      <p:sp>
        <p:nvSpPr>
          <p:cNvPr id="9" name="Object8"/>
          <p:cNvSpPr/>
          <p:nvPr/>
        </p:nvSpPr>
        <p:spPr>
          <a:xfrm>
            <a:off x="731520" y="2011680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Object9"/>
          <p:cNvSpPr/>
          <p:nvPr/>
        </p:nvSpPr>
        <p:spPr>
          <a:xfrm>
            <a:off x="731520" y="2148840"/>
            <a:ext cx="33604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招聘 + 课程双维度数据交叉验证，构建完整技能生态图谱，数据质量三重校验</a:t>
            </a:r>
            <a:endParaRPr lang="en-US" sz="1200" dirty="0"/>
          </a:p>
        </p:txBody>
      </p:sp>
      <p:sp>
        <p:nvSpPr>
          <p:cNvPr id="11" name="Object10"/>
          <p:cNvSpPr/>
          <p:nvPr/>
        </p:nvSpPr>
        <p:spPr>
          <a:xfrm>
            <a:off x="4777740" y="1371600"/>
            <a:ext cx="390906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2" name="Object11"/>
          <p:cNvSpPr/>
          <p:nvPr/>
        </p:nvSpPr>
        <p:spPr>
          <a:xfrm>
            <a:off x="7772400" y="14630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48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Object12"/>
          <p:cNvSpPr/>
          <p:nvPr/>
        </p:nvSpPr>
        <p:spPr>
          <a:xfrm>
            <a:off x="5052060" y="1600200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规则双路抽取</a:t>
            </a:r>
            <a:endParaRPr lang="en-US" sz="1500" dirty="0"/>
          </a:p>
        </p:txBody>
      </p:sp>
      <p:sp>
        <p:nvSpPr>
          <p:cNvPr id="14" name="Object13"/>
          <p:cNvSpPr/>
          <p:nvPr/>
        </p:nvSpPr>
        <p:spPr>
          <a:xfrm>
            <a:off x="5052060" y="2011680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Object14"/>
          <p:cNvSpPr/>
          <p:nvPr/>
        </p:nvSpPr>
        <p:spPr>
          <a:xfrm>
            <a:off x="5052060" y="2148840"/>
            <a:ext cx="33604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大模型语义理解结合规则引擎精确匹配，RAG 接地校验保障抽取准确率</a:t>
            </a:r>
            <a:endParaRPr lang="en-US" sz="1200" dirty="0"/>
          </a:p>
        </p:txBody>
      </p:sp>
      <p:sp>
        <p:nvSpPr>
          <p:cNvPr id="16" name="Object15"/>
          <p:cNvSpPr/>
          <p:nvPr/>
        </p:nvSpPr>
        <p:spPr>
          <a:xfrm>
            <a:off x="457200" y="3200400"/>
            <a:ext cx="390906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7" name="Object16"/>
          <p:cNvSpPr/>
          <p:nvPr/>
        </p:nvSpPr>
        <p:spPr>
          <a:xfrm>
            <a:off x="345186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48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Object17"/>
          <p:cNvSpPr/>
          <p:nvPr/>
        </p:nvSpPr>
        <p:spPr>
          <a:xfrm>
            <a:off x="731520" y="3429000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模型权重自学习</a:t>
            </a:r>
            <a:endParaRPr lang="en-US" sz="1500" dirty="0"/>
          </a:p>
        </p:txBody>
      </p:sp>
      <p:sp>
        <p:nvSpPr>
          <p:cNvPr id="19" name="Object18"/>
          <p:cNvSpPr/>
          <p:nvPr/>
        </p:nvSpPr>
        <p:spPr>
          <a:xfrm>
            <a:off x="731520" y="3840480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Object19"/>
          <p:cNvSpPr/>
          <p:nvPr/>
        </p:nvSpPr>
        <p:spPr>
          <a:xfrm>
            <a:off x="731520" y="3977640"/>
            <a:ext cx="33604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配对比较 + Optuna 超参优化，匹配权重自动迭代进化</a:t>
            </a:r>
            <a:endParaRPr lang="en-US" sz="1200" dirty="0"/>
          </a:p>
        </p:txBody>
      </p:sp>
      <p:sp>
        <p:nvSpPr>
          <p:cNvPr id="21" name="Object20"/>
          <p:cNvSpPr/>
          <p:nvPr/>
        </p:nvSpPr>
        <p:spPr>
          <a:xfrm>
            <a:off x="4777740" y="3200400"/>
            <a:ext cx="390906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2" name="Object21"/>
          <p:cNvSpPr/>
          <p:nvPr/>
        </p:nvSpPr>
        <p:spPr>
          <a:xfrm>
            <a:off x="777240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/>
            <a:r>
              <a:rPr lang="en-US" sz="48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Object22"/>
          <p:cNvSpPr/>
          <p:nvPr/>
        </p:nvSpPr>
        <p:spPr>
          <a:xfrm>
            <a:off x="5052060" y="3429000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技能演化时间轴</a:t>
            </a:r>
            <a:endParaRPr lang="en-US" sz="1500" dirty="0"/>
          </a:p>
        </p:txBody>
      </p:sp>
      <p:sp>
        <p:nvSpPr>
          <p:cNvPr id="24" name="Object23"/>
          <p:cNvSpPr/>
          <p:nvPr/>
        </p:nvSpPr>
        <p:spPr>
          <a:xfrm>
            <a:off x="5052060" y="3840480"/>
            <a:ext cx="457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Object24"/>
          <p:cNvSpPr/>
          <p:nvPr/>
        </p:nvSpPr>
        <p:spPr>
          <a:xfrm>
            <a:off x="5052060" y="3977640"/>
            <a:ext cx="33604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版本化图谱 + 差异检测算法，追踪技能兴衰趋势，预测未来需求方向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项目成果总览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核心指标全面达成，质量与性能双优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560070" y="1554480"/>
            <a:ext cx="1645920" cy="164592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7" name="Object6"/>
          <p:cNvSpPr/>
          <p:nvPr/>
        </p:nvSpPr>
        <p:spPr>
          <a:xfrm>
            <a:off x="457200" y="1737360"/>
            <a:ext cx="18516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5200" b="1" spc="2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5200" dirty="0"/>
          </a:p>
        </p:txBody>
      </p:sp>
      <p:sp>
        <p:nvSpPr>
          <p:cNvPr id="8" name="Object7"/>
          <p:cNvSpPr/>
          <p:nvPr/>
        </p:nvSpPr>
        <p:spPr>
          <a:xfrm>
            <a:off x="220599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600" dirty="0"/>
          </a:p>
        </p:txBody>
      </p:sp>
      <p:sp>
        <p:nvSpPr>
          <p:cNvPr id="9" name="Object8"/>
          <p:cNvSpPr/>
          <p:nvPr/>
        </p:nvSpPr>
        <p:spPr>
          <a:xfrm>
            <a:off x="457200" y="274320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</a:t>
            </a:r>
            <a:endParaRPr lang="en-US" sz="1400" dirty="0"/>
          </a:p>
        </p:txBody>
      </p:sp>
      <p:sp>
        <p:nvSpPr>
          <p:cNvPr id="10" name="Object9"/>
          <p:cNvSpPr/>
          <p:nvPr/>
        </p:nvSpPr>
        <p:spPr>
          <a:xfrm>
            <a:off x="2686050" y="1554480"/>
            <a:ext cx="1645920" cy="164592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11" name="Object10"/>
          <p:cNvSpPr/>
          <p:nvPr/>
        </p:nvSpPr>
        <p:spPr>
          <a:xfrm>
            <a:off x="2583180" y="1737360"/>
            <a:ext cx="18516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5200" b="1" spc="20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5200" dirty="0"/>
          </a:p>
        </p:txBody>
      </p:sp>
      <p:sp>
        <p:nvSpPr>
          <p:cNvPr id="12" name="Object11"/>
          <p:cNvSpPr/>
          <p:nvPr/>
        </p:nvSpPr>
        <p:spPr>
          <a:xfrm>
            <a:off x="433197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600" dirty="0"/>
          </a:p>
        </p:txBody>
      </p:sp>
      <p:sp>
        <p:nvSpPr>
          <p:cNvPr id="13" name="Object12"/>
          <p:cNvSpPr/>
          <p:nvPr/>
        </p:nvSpPr>
        <p:spPr>
          <a:xfrm>
            <a:off x="2583180" y="274320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</a:t>
            </a:r>
            <a:endParaRPr lang="en-US" sz="1400" dirty="0"/>
          </a:p>
        </p:txBody>
      </p:sp>
      <p:sp>
        <p:nvSpPr>
          <p:cNvPr id="14" name="Object13"/>
          <p:cNvSpPr/>
          <p:nvPr/>
        </p:nvSpPr>
        <p:spPr>
          <a:xfrm>
            <a:off x="4812030" y="1554480"/>
            <a:ext cx="1645920" cy="16459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5" name="Object14"/>
          <p:cNvSpPr/>
          <p:nvPr/>
        </p:nvSpPr>
        <p:spPr>
          <a:xfrm>
            <a:off x="4709160" y="1737360"/>
            <a:ext cx="18516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5200" b="1" spc="2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200" dirty="0"/>
          </a:p>
        </p:txBody>
      </p:sp>
      <p:sp>
        <p:nvSpPr>
          <p:cNvPr id="16" name="Object15"/>
          <p:cNvSpPr/>
          <p:nvPr/>
        </p:nvSpPr>
        <p:spPr>
          <a:xfrm>
            <a:off x="645795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600" dirty="0"/>
          </a:p>
        </p:txBody>
      </p:sp>
      <p:sp>
        <p:nvSpPr>
          <p:cNvPr id="17" name="Object16"/>
          <p:cNvSpPr/>
          <p:nvPr/>
        </p:nvSpPr>
        <p:spPr>
          <a:xfrm>
            <a:off x="4709160" y="274320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测试</a:t>
            </a:r>
            <a:endParaRPr lang="en-US" sz="1400" dirty="0"/>
          </a:p>
        </p:txBody>
      </p:sp>
      <p:sp>
        <p:nvSpPr>
          <p:cNvPr id="18" name="Object17"/>
          <p:cNvSpPr/>
          <p:nvPr/>
        </p:nvSpPr>
        <p:spPr>
          <a:xfrm>
            <a:off x="6938010" y="1554480"/>
            <a:ext cx="1645920" cy="164592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19" name="Object18"/>
          <p:cNvSpPr/>
          <p:nvPr/>
        </p:nvSpPr>
        <p:spPr>
          <a:xfrm>
            <a:off x="6835140" y="1737360"/>
            <a:ext cx="18516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5200" b="1" spc="200" kern="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5200" dirty="0"/>
          </a:p>
        </p:txBody>
      </p:sp>
      <p:sp>
        <p:nvSpPr>
          <p:cNvPr id="20" name="Object19"/>
          <p:cNvSpPr/>
          <p:nvPr/>
        </p:nvSpPr>
        <p:spPr>
          <a:xfrm>
            <a:off x="6835140" y="274320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三项准确率</a:t>
            </a:r>
            <a:endParaRPr lang="en-US" sz="1400" dirty="0"/>
          </a:p>
        </p:txBody>
      </p:sp>
      <p:sp>
        <p:nvSpPr>
          <p:cNvPr id="21" name="Object20"/>
          <p:cNvSpPr/>
          <p:nvPr/>
        </p:nvSpPr>
        <p:spPr>
          <a:xfrm>
            <a:off x="457200" y="35661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E2D48"/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2" name="Object21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 6 大模块 · 18 项功能 · 238 个测试用例 · 三项准确率全部达标 · 端到端性能优化完成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Object2"/>
          <p:cNvSpPr/>
          <p:nvPr/>
        </p:nvSpPr>
        <p:spPr>
          <a:xfrm>
            <a:off x="457200" y="5303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Object3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未来规划</a:t>
            </a:r>
            <a:endParaRPr lang="en-US" sz="2800" dirty="0"/>
          </a:p>
        </p:txBody>
      </p:sp>
      <p:sp>
        <p:nvSpPr>
          <p:cNvPr id="5" name="Object4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持续迭代，打造更智能的职业发展助手</a:t>
            </a:r>
            <a:endParaRPr lang="en-US" sz="1300" dirty="0"/>
          </a:p>
        </p:txBody>
      </p:sp>
      <p:sp>
        <p:nvSpPr>
          <p:cNvPr id="6" name="Object5"/>
          <p:cNvSpPr/>
          <p:nvPr/>
        </p:nvSpPr>
        <p:spPr>
          <a:xfrm>
            <a:off x="457200" y="1371600"/>
            <a:ext cx="2621280" cy="329184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7" name="Object6"/>
          <p:cNvSpPr/>
          <p:nvPr/>
        </p:nvSpPr>
        <p:spPr>
          <a:xfrm>
            <a:off x="457200" y="1371600"/>
            <a:ext cx="262128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8" name="Object7"/>
          <p:cNvSpPr/>
          <p:nvPr/>
        </p:nvSpPr>
        <p:spPr>
          <a:xfrm>
            <a:off x="457200" y="137160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 · Q4 2026</a:t>
            </a:r>
            <a:endParaRPr lang="en-US" sz="1400" dirty="0"/>
          </a:p>
        </p:txBody>
      </p:sp>
      <p:sp>
        <p:nvSpPr>
          <p:cNvPr id="9" name="Object8"/>
          <p:cNvSpPr/>
          <p:nvPr/>
        </p:nvSpPr>
        <p:spPr>
          <a:xfrm>
            <a:off x="685800" y="217627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Object9"/>
          <p:cNvSpPr/>
          <p:nvPr/>
        </p:nvSpPr>
        <p:spPr>
          <a:xfrm>
            <a:off x="914400" y="210312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更多招聘平台接入</a:t>
            </a:r>
            <a:endParaRPr lang="en-US" sz="1200" dirty="0"/>
          </a:p>
        </p:txBody>
      </p:sp>
      <p:sp>
        <p:nvSpPr>
          <p:cNvPr id="11" name="Object10"/>
          <p:cNvSpPr/>
          <p:nvPr/>
        </p:nvSpPr>
        <p:spPr>
          <a:xfrm>
            <a:off x="685800" y="277063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Object11"/>
          <p:cNvSpPr/>
          <p:nvPr/>
        </p:nvSpPr>
        <p:spPr>
          <a:xfrm>
            <a:off x="914400" y="269748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简历解析格式扩展</a:t>
            </a:r>
            <a:endParaRPr lang="en-US" sz="1200" dirty="0"/>
          </a:p>
        </p:txBody>
      </p:sp>
      <p:sp>
        <p:nvSpPr>
          <p:cNvPr id="13" name="Object12"/>
          <p:cNvSpPr/>
          <p:nvPr/>
        </p:nvSpPr>
        <p:spPr>
          <a:xfrm>
            <a:off x="685800" y="336499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Object13"/>
          <p:cNvSpPr/>
          <p:nvPr/>
        </p:nvSpPr>
        <p:spPr>
          <a:xfrm>
            <a:off x="914400" y="329184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移动端原生体验优化</a:t>
            </a:r>
            <a:endParaRPr lang="en-US" sz="1200" dirty="0"/>
          </a:p>
        </p:txBody>
      </p:sp>
      <p:sp>
        <p:nvSpPr>
          <p:cNvPr id="15" name="Object14"/>
          <p:cNvSpPr/>
          <p:nvPr/>
        </p:nvSpPr>
        <p:spPr>
          <a:xfrm>
            <a:off x="685800" y="395935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Object15"/>
          <p:cNvSpPr/>
          <p:nvPr/>
        </p:nvSpPr>
        <p:spPr>
          <a:xfrm>
            <a:off x="914400" y="388620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用户反馈快速迭代</a:t>
            </a:r>
            <a:endParaRPr lang="en-US" sz="1200" dirty="0"/>
          </a:p>
        </p:txBody>
      </p:sp>
      <p:sp>
        <p:nvSpPr>
          <p:cNvPr id="17" name="Object16"/>
          <p:cNvSpPr/>
          <p:nvPr/>
        </p:nvSpPr>
        <p:spPr>
          <a:xfrm>
            <a:off x="3261360" y="1371600"/>
            <a:ext cx="2621280" cy="329184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Object17"/>
          <p:cNvSpPr/>
          <p:nvPr/>
        </p:nvSpPr>
        <p:spPr>
          <a:xfrm>
            <a:off x="3261360" y="1371600"/>
            <a:ext cx="262128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9" name="Object18"/>
          <p:cNvSpPr/>
          <p:nvPr/>
        </p:nvSpPr>
        <p:spPr>
          <a:xfrm>
            <a:off x="3261360" y="137160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 · 2027 H1</a:t>
            </a:r>
            <a:endParaRPr lang="en-US" sz="1400" dirty="0"/>
          </a:p>
        </p:txBody>
      </p:sp>
      <p:sp>
        <p:nvSpPr>
          <p:cNvPr id="20" name="Object19"/>
          <p:cNvSpPr/>
          <p:nvPr/>
        </p:nvSpPr>
        <p:spPr>
          <a:xfrm>
            <a:off x="3489960" y="21762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Object20"/>
          <p:cNvSpPr/>
          <p:nvPr/>
        </p:nvSpPr>
        <p:spPr>
          <a:xfrm>
            <a:off x="3718560" y="210312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企业端招聘 SaaS 化</a:t>
            </a:r>
            <a:endParaRPr lang="en-US" sz="1200" dirty="0"/>
          </a:p>
        </p:txBody>
      </p:sp>
      <p:sp>
        <p:nvSpPr>
          <p:cNvPr id="22" name="Object21"/>
          <p:cNvSpPr/>
          <p:nvPr/>
        </p:nvSpPr>
        <p:spPr>
          <a:xfrm>
            <a:off x="3489960" y="27706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Object22"/>
          <p:cNvSpPr/>
          <p:nvPr/>
        </p:nvSpPr>
        <p:spPr>
          <a:xfrm>
            <a:off x="3718560" y="269748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面试模拟功能</a:t>
            </a:r>
            <a:endParaRPr lang="en-US" sz="1200" dirty="0"/>
          </a:p>
        </p:txBody>
      </p:sp>
      <p:sp>
        <p:nvSpPr>
          <p:cNvPr id="24" name="Object23"/>
          <p:cNvSpPr/>
          <p:nvPr/>
        </p:nvSpPr>
        <p:spPr>
          <a:xfrm>
            <a:off x="3489960" y="33649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Object24"/>
          <p:cNvSpPr/>
          <p:nvPr/>
        </p:nvSpPr>
        <p:spPr>
          <a:xfrm>
            <a:off x="3718560" y="329184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学习路径个性化推荐</a:t>
            </a:r>
            <a:endParaRPr lang="en-US" sz="1200" dirty="0"/>
          </a:p>
        </p:txBody>
      </p:sp>
      <p:sp>
        <p:nvSpPr>
          <p:cNvPr id="26" name="Object25"/>
          <p:cNvSpPr/>
          <p:nvPr/>
        </p:nvSpPr>
        <p:spPr>
          <a:xfrm>
            <a:off x="3489960" y="39593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Object26"/>
          <p:cNvSpPr/>
          <p:nvPr/>
        </p:nvSpPr>
        <p:spPr>
          <a:xfrm>
            <a:off x="3718560" y="388620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多语言国际化支持</a:t>
            </a:r>
            <a:endParaRPr lang="en-US" sz="1200" dirty="0"/>
          </a:p>
        </p:txBody>
      </p:sp>
      <p:sp>
        <p:nvSpPr>
          <p:cNvPr id="28" name="Object27"/>
          <p:cNvSpPr/>
          <p:nvPr/>
        </p:nvSpPr>
        <p:spPr>
          <a:xfrm>
            <a:off x="6065520" y="1371600"/>
            <a:ext cx="2621280" cy="3291840"/>
          </a:xfrm>
          <a:prstGeom prst="roundRect">
            <a:avLst>
              <a:gd name="adj" fmla="val 3488"/>
            </a:avLst>
          </a:prstGeom>
          <a:solidFill>
            <a:srgbClr val="1E293B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29" name="Object28"/>
          <p:cNvSpPr/>
          <p:nvPr/>
        </p:nvSpPr>
        <p:spPr>
          <a:xfrm>
            <a:off x="6065520" y="1371600"/>
            <a:ext cx="262128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30" name="Object29"/>
          <p:cNvSpPr/>
          <p:nvPr/>
        </p:nvSpPr>
        <p:spPr>
          <a:xfrm>
            <a:off x="6065520" y="1371600"/>
            <a:ext cx="262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 · 2027 H2+</a:t>
            </a:r>
            <a:endParaRPr lang="en-US" sz="1400" dirty="0"/>
          </a:p>
        </p:txBody>
      </p:sp>
      <p:sp>
        <p:nvSpPr>
          <p:cNvPr id="31" name="Object30"/>
          <p:cNvSpPr/>
          <p:nvPr/>
        </p:nvSpPr>
        <p:spPr>
          <a:xfrm>
            <a:off x="6294120" y="21762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Object31"/>
          <p:cNvSpPr/>
          <p:nvPr/>
        </p:nvSpPr>
        <p:spPr>
          <a:xfrm>
            <a:off x="6522720" y="210312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职业发展全周期陪伴</a:t>
            </a:r>
            <a:endParaRPr lang="en-US" sz="1200" dirty="0"/>
          </a:p>
        </p:txBody>
      </p:sp>
      <p:sp>
        <p:nvSpPr>
          <p:cNvPr id="33" name="Object32"/>
          <p:cNvSpPr/>
          <p:nvPr/>
        </p:nvSpPr>
        <p:spPr>
          <a:xfrm>
            <a:off x="6294120" y="27706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Object33"/>
          <p:cNvSpPr/>
          <p:nvPr/>
        </p:nvSpPr>
        <p:spPr>
          <a:xfrm>
            <a:off x="6522720" y="269748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行业趋势预测报告</a:t>
            </a:r>
            <a:endParaRPr lang="en-US" sz="1200" dirty="0"/>
          </a:p>
        </p:txBody>
      </p:sp>
      <p:sp>
        <p:nvSpPr>
          <p:cNvPr id="35" name="Object34"/>
          <p:cNvSpPr/>
          <p:nvPr/>
        </p:nvSpPr>
        <p:spPr>
          <a:xfrm>
            <a:off x="6294120" y="33649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Object35"/>
          <p:cNvSpPr/>
          <p:nvPr/>
        </p:nvSpPr>
        <p:spPr>
          <a:xfrm>
            <a:off x="6522720" y="329184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高校就业数据合作</a:t>
            </a:r>
            <a:endParaRPr lang="en-US" sz="1200" dirty="0"/>
          </a:p>
        </p:txBody>
      </p:sp>
      <p:sp>
        <p:nvSpPr>
          <p:cNvPr id="37" name="Object36"/>
          <p:cNvSpPr/>
          <p:nvPr/>
        </p:nvSpPr>
        <p:spPr>
          <a:xfrm>
            <a:off x="6294120" y="395935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Object37"/>
          <p:cNvSpPr/>
          <p:nvPr/>
        </p:nvSpPr>
        <p:spPr>
          <a:xfrm>
            <a:off x="6522720" y="3886200"/>
            <a:ext cx="1981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技能认证生态构建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workspace/zhigang-compass/docs/ppt/images/bg-clos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4" name="Object3"/>
          <p:cNvSpPr/>
          <p:nvPr/>
        </p:nvSpPr>
        <p:spPr>
          <a:xfrm>
            <a:off x="2971800" y="69723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Object4"/>
          <p:cNvSpPr/>
          <p:nvPr/>
        </p:nvSpPr>
        <p:spPr>
          <a:xfrm>
            <a:off x="0" y="184023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Object5"/>
          <p:cNvSpPr/>
          <p:nvPr/>
        </p:nvSpPr>
        <p:spPr>
          <a:xfrm>
            <a:off x="0" y="275463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spc="2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智岗罗盘 — 让每个职业选择都有数据可循</a:t>
            </a:r>
            <a:endParaRPr lang="en-US" sz="2000" dirty="0"/>
          </a:p>
        </p:txBody>
      </p:sp>
      <p:sp>
        <p:nvSpPr>
          <p:cNvPr id="7" name="Object6"/>
          <p:cNvSpPr/>
          <p:nvPr/>
        </p:nvSpPr>
        <p:spPr>
          <a:xfrm>
            <a:off x="3474720" y="3348990"/>
            <a:ext cx="219456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8" name="Object7"/>
          <p:cNvSpPr/>
          <p:nvPr/>
        </p:nvSpPr>
        <p:spPr>
          <a:xfrm>
            <a:off x="0" y="348615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800" spc="300" kern="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智岗罗盘 — 智能岗位技能图谱与就业演化分析系统</dc:title>
  <dc:subject>PptxGenJS Presentation</dc:subject>
  <dc:creator>智岗罗盘团队</dc:creator>
  <cp:lastModifiedBy>智岗罗盘团队</cp:lastModifiedBy>
  <cp:revision>1</cp:revision>
  <dcterms:created xsi:type="dcterms:W3CDTF">2026-08-26T14:33:49Z</dcterms:created>
  <dcterms:modified xsi:type="dcterms:W3CDTF">2026-08-26T14:33:49Z</dcterms:modified>
</cp:coreProperties>
</file>